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146847106" r:id="rId5"/>
    <p:sldId id="2146847080" r:id="rId6"/>
    <p:sldId id="2146847081" r:id="rId7"/>
    <p:sldId id="2146847083" r:id="rId8"/>
    <p:sldId id="2146847084" r:id="rId9"/>
    <p:sldId id="2146847097" r:id="rId10"/>
    <p:sldId id="2146847098" r:id="rId11"/>
    <p:sldId id="2146847099" r:id="rId12"/>
    <p:sldId id="2146847100" r:id="rId13"/>
    <p:sldId id="2146847101" r:id="rId14"/>
    <p:sldId id="2146847102" r:id="rId15"/>
    <p:sldId id="2146847103" r:id="rId16"/>
    <p:sldId id="2146847104" r:id="rId17"/>
    <p:sldId id="2146847105" r:id="rId1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05DD286-CFA4-9C2A-C33B-DD81FBFA9B38}" name="Nelson Eduardo Quintanilla Rivera" initials="NEQR" userId="S::nerivera@latam.stefanini.com::0c3c084f-4f3c-4c07-ada8-1dcbe4e0e9be" providerId="AD"/>
  <p188:author id="{FCAFA7FE-3D70-232D-DD93-82988DA25DC5}" name="Alejandro Jimenez Archila" initials="AA" userId="S::ajarchila@latam.stefanini.com::2409982e-751e-4788-b781-807f32fd0e0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F41"/>
    <a:srgbClr val="FDDA24"/>
    <a:srgbClr val="F6F9FC"/>
    <a:srgbClr val="FCFDFE"/>
    <a:srgbClr val="F3F7FB"/>
    <a:srgbClr val="F0F5FA"/>
    <a:srgbClr val="7030A0"/>
    <a:srgbClr val="002060"/>
    <a:srgbClr val="EFFBFF"/>
    <a:srgbClr val="4BAC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1751F3-37E0-493B-8FC1-49B7006A7006}" v="374" dt="2022-11-10T21:09:57.1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SV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905D12-CCA1-4B2B-83AC-B5BDA871638B}" type="datetimeFigureOut">
              <a:rPr lang="es-SV" smtClean="0"/>
              <a:t>13/11/2024</a:t>
            </a:fld>
            <a:endParaRPr lang="es-SV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SV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SV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SV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044F3B-7653-49CC-8D12-D39ABB8754D2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763058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044F3B-7653-49CC-8D12-D39ABB8754D2}" type="slidenum">
              <a:rPr lang="es-SV" smtClean="0"/>
              <a:t>1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3873902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45779-5A17-F201-5F05-3A1CD1F65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D7BA21E-6305-E956-5A8B-2C728E26F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47387F-3D8A-B573-8C0D-ED8A16664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SV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F8F756F-F53A-730D-D4C6-83C9BD7C68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44F3B-7653-49CC-8D12-D39ABB8754D2}" type="slidenum">
              <a:rPr lang="es-SV" smtClean="0"/>
              <a:t>2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723682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7FBFB-665D-94AE-F580-073919838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ED1CC8E-B9D5-DEED-357F-B9B131E174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9ABB702-A0C7-F9A6-101D-D88229600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SV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A09329E-F09E-86B8-6F9B-B82B318F50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44F3B-7653-49CC-8D12-D39ABB8754D2}" type="slidenum">
              <a:rPr lang="es-SV" smtClean="0"/>
              <a:t>3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185354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37754-0663-C48F-3250-82463D68A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9F04B22-D917-2406-51E7-8487B66D0E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5682EAA-2B68-864B-2CBA-64700A847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SV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6913F02-38D4-3E10-7593-183A53F365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44F3B-7653-49CC-8D12-D39ABB8754D2}" type="slidenum">
              <a:rPr lang="es-SV" smtClean="0"/>
              <a:t>4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123960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3A469-9615-645C-C4F3-9AE238FB5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01025BF-4C63-9608-E90F-E9FD46990A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B4B4A2C-0450-E170-AA78-EF76D0CD6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SV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62A1CC-CD82-E338-F170-3648CB555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44F3B-7653-49CC-8D12-D39ABB8754D2}" type="slidenum">
              <a:rPr lang="es-SV" smtClean="0"/>
              <a:t>5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2761866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1394D-C9CC-5906-6062-63F433004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F170962-D6A6-15DF-2712-B27C797B83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CC10888-9763-6315-66D9-FD00313B7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SV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E3F8D02-9E5E-F853-A667-C9174714D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44F3B-7653-49CC-8D12-D39ABB8754D2}" type="slidenum">
              <a:rPr lang="es-SV" smtClean="0"/>
              <a:t>6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9442951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C61F9-3EFE-0311-D5B0-91CE92BBA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C07E2E1-0F95-0195-721F-F80E7B8FA3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08CC95A-5CB7-D150-FEA7-BF5089193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SV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70423CB-9636-9DFC-49A5-B18F1051DC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44F3B-7653-49CC-8D12-D39ABB8754D2}" type="slidenum">
              <a:rPr lang="es-SV" smtClean="0"/>
              <a:t>7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643731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1FCB1-AE78-67BE-8AD0-8933E60D5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4CDD914-670B-8F31-4293-BD79FC18DC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53315A5-68A8-F5D8-530F-E1635E34D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SV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B2FB18-6DF0-77EE-8383-5857324F0D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44F3B-7653-49CC-8D12-D39ABB8754D2}" type="slidenum">
              <a:rPr lang="es-SV" smtClean="0"/>
              <a:t>8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596829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E8577-3A44-B35B-FCF8-18A46AF57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92DAF63-D1B9-F923-D02B-84F1DEC24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3D090BA-5EEA-FF2F-01EA-6DBAE1FF7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SV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104D90E-BD40-D1F3-0742-633323DF37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44F3B-7653-49CC-8D12-D39ABB8754D2}" type="slidenum">
              <a:rPr lang="es-SV" smtClean="0"/>
              <a:t>9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1844304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1AC0E-C7CA-8247-DABF-4BDE8BF48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8C94DAA-3EC7-17D7-4EB2-4F4FCD1942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12FE121-A798-005D-46C7-0E8EFDBA47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SV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9B0EE6E-FA9F-6B62-50DB-A23EEBED72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44F3B-7653-49CC-8D12-D39ABB8754D2}" type="slidenum">
              <a:rPr lang="es-SV" smtClean="0"/>
              <a:t>10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5429728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844E4-64B4-4C3B-840F-C740AC06D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0996140-177F-D570-0D5F-F54412D7F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FA3A481-15DC-F72D-AB16-89BB2EE9A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SV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681B7A-D9B8-DA7C-3AC0-8D2B0CE9F5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44F3B-7653-49CC-8D12-D39ABB8754D2}" type="slidenum">
              <a:rPr lang="es-SV" smtClean="0"/>
              <a:t>11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2741294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57AED-7843-0B02-026C-2ED80AF0D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24CFAB8-256E-DA2E-0609-941FCC0D10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AF0114D-3D57-D6EB-A02D-85A13A32D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SV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8D2E8C-4FD4-999C-63A8-6EEC68BF32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44F3B-7653-49CC-8D12-D39ABB8754D2}" type="slidenum">
              <a:rPr lang="es-SV" smtClean="0"/>
              <a:t>12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359349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4C77F-41C0-8062-D9D4-6011E0683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123AE5B-FC16-EEC7-C85A-1EB5F87769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4F3561B-A75C-8CA6-0F21-B966EEC8EA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SV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3F6E15-726D-7411-2092-1FD123C3E8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44F3B-7653-49CC-8D12-D39ABB8754D2}" type="slidenum">
              <a:rPr lang="es-SV" smtClean="0"/>
              <a:t>13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15449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AF6D0-9EDA-D814-B84B-235B74EEF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2CEFF76-5A16-262D-F619-759420709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A525F9C-A50D-FF1F-4E0A-64AD4C747C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SV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1C299E7-AF17-C629-3245-E98448ACC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044F3B-7653-49CC-8D12-D39ABB8754D2}" type="slidenum">
              <a:rPr lang="es-SV" smtClean="0"/>
              <a:t>14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140390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13/11/2024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13/11/2024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13/11/2024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13/11/2024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13/11/2024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13/11/2024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13/11/2024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13/11/2024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13/11/2024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13/11/2024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13/11/2024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13/11/2024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C51993D-CC86-4318-AF4B-9F0118BE8F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25E56005-16E5-4CC3-9D6D-2EEA98A17EF5}"/>
              </a:ext>
            </a:extLst>
          </p:cNvPr>
          <p:cNvSpPr/>
          <p:nvPr/>
        </p:nvSpPr>
        <p:spPr>
          <a:xfrm>
            <a:off x="0" y="0"/>
            <a:ext cx="12190476" cy="6857143"/>
          </a:xfrm>
          <a:prstGeom prst="rect">
            <a:avLst/>
          </a:prstGeom>
          <a:solidFill>
            <a:srgbClr val="0B1641">
              <a:alpha val="6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2129F5A-C0C0-40EF-8BDE-32B2B47D1A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4559" y="2407920"/>
            <a:ext cx="7371301" cy="1632712"/>
          </a:xfrm>
        </p:spPr>
        <p:txBody>
          <a:bodyPr>
            <a:normAutofit fontScale="90000"/>
          </a:bodyPr>
          <a:lstStyle/>
          <a:p>
            <a:r>
              <a:rPr lang="es-HN" b="1" dirty="0" smtClean="0">
                <a:solidFill>
                  <a:schemeClr val="bg1"/>
                </a:solidFill>
                <a:latin typeface="Montserrat" panose="00000500000000000000" pitchFamily="50" charset="0"/>
              </a:rPr>
              <a:t>DESARROLLO Web II</a:t>
            </a:r>
            <a:endParaRPr lang="es-HN" sz="5400" dirty="0">
              <a:solidFill>
                <a:schemeClr val="bg1"/>
              </a:solidFill>
              <a:latin typeface="Montserrat" panose="00000500000000000000" pitchFamily="50" charset="0"/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9277E0A1-B339-4A13-87CA-C7DE91F7FCA9}"/>
              </a:ext>
            </a:extLst>
          </p:cNvPr>
          <p:cNvCxnSpPr/>
          <p:nvPr/>
        </p:nvCxnSpPr>
        <p:spPr>
          <a:xfrm>
            <a:off x="1036320" y="4040632"/>
            <a:ext cx="3210560" cy="0"/>
          </a:xfrm>
          <a:prstGeom prst="line">
            <a:avLst/>
          </a:prstGeom>
          <a:ln w="38100">
            <a:solidFill>
              <a:srgbClr val="2F82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n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4689" y="-22398"/>
            <a:ext cx="4247311" cy="1226572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62129F5A-C0C0-40EF-8BDE-32B2B47D1A2D}"/>
              </a:ext>
            </a:extLst>
          </p:cNvPr>
          <p:cNvSpPr txBox="1">
            <a:spLocks/>
          </p:cNvSpPr>
          <p:nvPr/>
        </p:nvSpPr>
        <p:spPr>
          <a:xfrm>
            <a:off x="7189315" y="4345473"/>
            <a:ext cx="5208866" cy="110341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HN" sz="3500" b="1" dirty="0" smtClean="0">
                <a:solidFill>
                  <a:schemeClr val="bg1"/>
                </a:solidFill>
                <a:latin typeface="Montserrat" panose="00000500000000000000" pitchFamily="50" charset="0"/>
              </a:rPr>
              <a:t>Erick Rápalo</a:t>
            </a:r>
          </a:p>
          <a:p>
            <a:r>
              <a:rPr lang="es-HN" sz="3500" b="1" dirty="0" smtClean="0">
                <a:solidFill>
                  <a:schemeClr val="bg1"/>
                </a:solidFill>
                <a:latin typeface="Montserrat" panose="00000500000000000000" pitchFamily="50" charset="0"/>
              </a:rPr>
              <a:t>Tel: 8988-2132</a:t>
            </a:r>
            <a:endParaRPr lang="es-HN" sz="3500" dirty="0">
              <a:solidFill>
                <a:schemeClr val="bg1"/>
              </a:solidFill>
              <a:latin typeface="Montserrat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578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48C67-5537-C7CC-3657-F34BD62E1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8EE5A247-5D9E-11BA-A947-5C1EAE9ECAC0}"/>
              </a:ext>
            </a:extLst>
          </p:cNvPr>
          <p:cNvSpPr/>
          <p:nvPr/>
        </p:nvSpPr>
        <p:spPr>
          <a:xfrm>
            <a:off x="5798900" y="685800"/>
            <a:ext cx="45719" cy="4942114"/>
          </a:xfrm>
          <a:prstGeom prst="rect">
            <a:avLst/>
          </a:prstGeom>
          <a:solidFill>
            <a:srgbClr val="FF7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A9D4431-5015-0D5A-8682-B4299D5ECCD8}"/>
              </a:ext>
            </a:extLst>
          </p:cNvPr>
          <p:cNvSpPr/>
          <p:nvPr/>
        </p:nvSpPr>
        <p:spPr>
          <a:xfrm>
            <a:off x="1" y="0"/>
            <a:ext cx="5033912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95000"/>
                </a:schemeClr>
              </a:gs>
              <a:gs pos="98000">
                <a:schemeClr val="accent6">
                  <a:alpha val="95000"/>
                </a:schemeClr>
              </a:gs>
              <a:gs pos="59000">
                <a:srgbClr val="7030A0">
                  <a:alpha val="9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sz="2200" dirty="0"/>
          </a:p>
        </p:txBody>
      </p:sp>
      <p:pic>
        <p:nvPicPr>
          <p:cNvPr id="8" name="Imagen 7" descr="Un hombre con lentes y una laptop&#10;&#10;Descripción generada automáticamente con confianza media">
            <a:extLst>
              <a:ext uri="{FF2B5EF4-FFF2-40B4-BE49-F238E27FC236}">
                <a16:creationId xmlns:a16="http://schemas.microsoft.com/office/drawing/2014/main" id="{24DAEC08-9A7E-CA3A-9BEB-F696CF8B06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235684" y="1055804"/>
            <a:ext cx="6866460" cy="5965482"/>
          </a:xfrm>
          <a:prstGeom prst="rect">
            <a:avLst/>
          </a:prstGeom>
        </p:spPr>
      </p:pic>
      <p:sp>
        <p:nvSpPr>
          <p:cNvPr id="10" name="PRESENTATION…">
            <a:extLst>
              <a:ext uri="{FF2B5EF4-FFF2-40B4-BE49-F238E27FC236}">
                <a16:creationId xmlns:a16="http://schemas.microsoft.com/office/drawing/2014/main" id="{3C3F7DA4-E4EB-C8D7-13C3-39EC4D3B81AD}"/>
              </a:ext>
            </a:extLst>
          </p:cNvPr>
          <p:cNvSpPr txBox="1"/>
          <p:nvPr/>
        </p:nvSpPr>
        <p:spPr>
          <a:xfrm>
            <a:off x="494122" y="463350"/>
            <a:ext cx="3076392" cy="6771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defPPr>
              <a:defRPr lang="es-US"/>
            </a:defPPr>
            <a:lvl1pPr algn="ctr">
              <a:spcBef>
                <a:spcPct val="0"/>
              </a:spcBef>
              <a:spcAft>
                <a:spcPts val="1333"/>
              </a:spcAft>
              <a:buNone/>
              <a:defRPr sz="3600" b="1">
                <a:solidFill>
                  <a:srgbClr val="217B85"/>
                </a:solidFill>
                <a:latin typeface="Montserrat"/>
                <a:ea typeface="+mj-ea"/>
                <a:cs typeface="Arial"/>
              </a:defRPr>
            </a:lvl1pPr>
          </a:lstStyle>
          <a:p>
            <a:pPr algn="l"/>
            <a:r>
              <a:rPr lang="es-ES" sz="2200" dirty="0">
                <a:solidFill>
                  <a:srgbClr val="FFFFFF"/>
                </a:solidFill>
                <a:sym typeface="Arial"/>
              </a:rPr>
              <a:t>Funciones Agregadas SQL</a:t>
            </a:r>
            <a:endParaRPr lang="es-ES" sz="2200" dirty="0">
              <a:solidFill>
                <a:srgbClr val="E1F7FF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6A2A2C2-6CC3-5453-326F-21225ADF6519}"/>
              </a:ext>
            </a:extLst>
          </p:cNvPr>
          <p:cNvSpPr txBox="1"/>
          <p:nvPr/>
        </p:nvSpPr>
        <p:spPr>
          <a:xfrm>
            <a:off x="6016475" y="2159404"/>
            <a:ext cx="5429717" cy="1994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1400" i="1" dirty="0">
                <a:solidFill>
                  <a:srgbClr val="002060"/>
                </a:solidFill>
                <a:latin typeface="Montserrat" pitchFamily="2" charset="0"/>
              </a:rPr>
              <a:t>La agregación de datos es </a:t>
            </a:r>
            <a:r>
              <a:rPr lang="es-MX" sz="1400" b="1" i="1" dirty="0">
                <a:solidFill>
                  <a:srgbClr val="002060"/>
                </a:solidFill>
                <a:latin typeface="Montserrat" pitchFamily="2" charset="0"/>
              </a:rPr>
              <a:t>el proceso de tomar varias filas de datos y condensarlas en un único resultado o resumen</a:t>
            </a:r>
            <a:r>
              <a:rPr lang="es-MX" sz="1400" i="1" dirty="0">
                <a:solidFill>
                  <a:srgbClr val="002060"/>
                </a:solidFill>
                <a:latin typeface="Montserrat" pitchFamily="2" charset="0"/>
              </a:rPr>
              <a:t>. Cuando se trabaja con grandes conjuntos de datos, este proceso es muy valioso, ya que permite extraer información relevante sin tener que examinar cada punto de datos individualmente.</a:t>
            </a:r>
            <a:endParaRPr lang="es-SV" sz="1400" i="1" dirty="0">
              <a:solidFill>
                <a:srgbClr val="002060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227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3EF5F-77E6-8CC1-CE90-35C78BEA5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80824EA9-B328-84D0-56A0-6E93DC988408}"/>
              </a:ext>
            </a:extLst>
          </p:cNvPr>
          <p:cNvSpPr/>
          <p:nvPr/>
        </p:nvSpPr>
        <p:spPr>
          <a:xfrm>
            <a:off x="5798900" y="685800"/>
            <a:ext cx="45719" cy="4942114"/>
          </a:xfrm>
          <a:prstGeom prst="rect">
            <a:avLst/>
          </a:prstGeom>
          <a:solidFill>
            <a:srgbClr val="FF7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C0029B8-A5D5-8511-BFFE-5BCAE3183271}"/>
              </a:ext>
            </a:extLst>
          </p:cNvPr>
          <p:cNvSpPr/>
          <p:nvPr/>
        </p:nvSpPr>
        <p:spPr>
          <a:xfrm>
            <a:off x="1" y="0"/>
            <a:ext cx="5033912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95000"/>
                </a:schemeClr>
              </a:gs>
              <a:gs pos="98000">
                <a:schemeClr val="accent6">
                  <a:alpha val="95000"/>
                </a:schemeClr>
              </a:gs>
              <a:gs pos="59000">
                <a:srgbClr val="7030A0">
                  <a:alpha val="9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sz="2200" dirty="0"/>
          </a:p>
        </p:txBody>
      </p:sp>
      <p:sp>
        <p:nvSpPr>
          <p:cNvPr id="10" name="PRESENTATION…">
            <a:extLst>
              <a:ext uri="{FF2B5EF4-FFF2-40B4-BE49-F238E27FC236}">
                <a16:creationId xmlns:a16="http://schemas.microsoft.com/office/drawing/2014/main" id="{76EF92B4-8544-1843-F65D-B5B0AB83BA13}"/>
              </a:ext>
            </a:extLst>
          </p:cNvPr>
          <p:cNvSpPr txBox="1"/>
          <p:nvPr/>
        </p:nvSpPr>
        <p:spPr>
          <a:xfrm>
            <a:off x="494122" y="463350"/>
            <a:ext cx="3076392" cy="6771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defPPr>
              <a:defRPr lang="es-US"/>
            </a:defPPr>
            <a:lvl1pPr algn="ctr">
              <a:spcBef>
                <a:spcPct val="0"/>
              </a:spcBef>
              <a:spcAft>
                <a:spcPts val="1333"/>
              </a:spcAft>
              <a:buNone/>
              <a:defRPr sz="3600" b="1">
                <a:solidFill>
                  <a:srgbClr val="217B85"/>
                </a:solidFill>
                <a:latin typeface="Montserrat"/>
                <a:ea typeface="+mj-ea"/>
                <a:cs typeface="Arial"/>
              </a:defRPr>
            </a:lvl1pPr>
          </a:lstStyle>
          <a:p>
            <a:pPr algn="l"/>
            <a:r>
              <a:rPr lang="es-ES" sz="2200" dirty="0">
                <a:solidFill>
                  <a:srgbClr val="FFFFFF"/>
                </a:solidFill>
                <a:sym typeface="Arial"/>
              </a:rPr>
              <a:t>Funciones más comunes</a:t>
            </a:r>
            <a:endParaRPr lang="es-ES" sz="2200" dirty="0">
              <a:solidFill>
                <a:srgbClr val="E1F7FF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DD93CD7-9CD3-7C03-D757-C63734BDDB1C}"/>
              </a:ext>
            </a:extLst>
          </p:cNvPr>
          <p:cNvSpPr txBox="1"/>
          <p:nvPr/>
        </p:nvSpPr>
        <p:spPr>
          <a:xfrm>
            <a:off x="6096000" y="860693"/>
            <a:ext cx="5429717" cy="2318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1400" i="1" dirty="0">
                <a:solidFill>
                  <a:srgbClr val="002060"/>
                </a:solidFill>
                <a:latin typeface="Montserrat" pitchFamily="2" charset="0"/>
              </a:rPr>
              <a:t>En SQL, las funciones agregadas son herramientas esenciales para </a:t>
            </a:r>
            <a:r>
              <a:rPr lang="es-MX" sz="1400" b="1" i="1" dirty="0">
                <a:solidFill>
                  <a:srgbClr val="002060"/>
                </a:solidFill>
                <a:latin typeface="Montserrat" pitchFamily="2" charset="0"/>
              </a:rPr>
              <a:t>resumir y analizar datos de forma eficaz</a:t>
            </a:r>
            <a:r>
              <a:rPr lang="es-MX" sz="1400" i="1" dirty="0">
                <a:solidFill>
                  <a:srgbClr val="002060"/>
                </a:solidFill>
                <a:latin typeface="Montserrat" pitchFamily="2" charset="0"/>
              </a:rPr>
              <a:t>. una capacidad única para destilar grandes conjuntos de datos en información significativa, para facilitar el </a:t>
            </a:r>
            <a:r>
              <a:rPr lang="es-MX" sz="1400" b="1" i="1" dirty="0">
                <a:solidFill>
                  <a:srgbClr val="002060"/>
                </a:solidFill>
                <a:latin typeface="Montserrat" pitchFamily="2" charset="0"/>
              </a:rPr>
              <a:t>análisis estadístico y para simplificar estructuras de datos complejas</a:t>
            </a:r>
            <a:r>
              <a:rPr lang="es-MX" sz="1400" i="1" dirty="0">
                <a:solidFill>
                  <a:srgbClr val="002060"/>
                </a:solidFill>
                <a:latin typeface="Montserrat" pitchFamily="2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s-MX" sz="1400" i="1" dirty="0">
              <a:solidFill>
                <a:srgbClr val="002060"/>
              </a:solidFill>
              <a:latin typeface="Montserrat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608B60E-27F3-790B-F361-196A6429261A}"/>
              </a:ext>
            </a:extLst>
          </p:cNvPr>
          <p:cNvSpPr txBox="1"/>
          <p:nvPr/>
        </p:nvSpPr>
        <p:spPr>
          <a:xfrm>
            <a:off x="6108262" y="3083256"/>
            <a:ext cx="5429717" cy="1994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1400" b="1" i="1" dirty="0">
                <a:solidFill>
                  <a:srgbClr val="002060"/>
                </a:solidFill>
                <a:latin typeface="Montserrat" pitchFamily="2" charset="0"/>
              </a:rPr>
              <a:t>Las funciones agregadas de SQL más utilizadas son: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400" i="1" dirty="0">
                <a:solidFill>
                  <a:srgbClr val="002060"/>
                </a:solidFill>
                <a:latin typeface="Montserrat" pitchFamily="2" charset="0"/>
              </a:rPr>
              <a:t>SUM()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400" i="1" dirty="0">
                <a:solidFill>
                  <a:srgbClr val="002060"/>
                </a:solidFill>
                <a:latin typeface="Montserrat" pitchFamily="2" charset="0"/>
              </a:rPr>
              <a:t>COUNT()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400" i="1" dirty="0">
                <a:solidFill>
                  <a:srgbClr val="002060"/>
                </a:solidFill>
                <a:latin typeface="Montserrat" pitchFamily="2" charset="0"/>
              </a:rPr>
              <a:t>AVG()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400" i="1" dirty="0">
                <a:solidFill>
                  <a:srgbClr val="002060"/>
                </a:solidFill>
                <a:latin typeface="Montserrat" pitchFamily="2" charset="0"/>
              </a:rPr>
              <a:t>MIN()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400" i="1" dirty="0">
                <a:solidFill>
                  <a:srgbClr val="002060"/>
                </a:solidFill>
                <a:latin typeface="Montserrat" pitchFamily="2" charset="0"/>
              </a:rPr>
              <a:t>MAX()</a:t>
            </a:r>
          </a:p>
        </p:txBody>
      </p:sp>
      <p:pic>
        <p:nvPicPr>
          <p:cNvPr id="9" name="Imagen 8" descr="Mujer con una caja de cartón&#10;&#10;Descripción generada automáticamente">
            <a:extLst>
              <a:ext uri="{FF2B5EF4-FFF2-40B4-BE49-F238E27FC236}">
                <a16:creationId xmlns:a16="http://schemas.microsoft.com/office/drawing/2014/main" id="{24DD6D9E-E420-3C3C-EE85-CD62877D41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748" y="1100058"/>
            <a:ext cx="5126871" cy="575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55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E3039-6128-EB55-9F43-6B2F43528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E864320-6DC0-FE55-9D8E-814CAAF8B8E0}"/>
              </a:ext>
            </a:extLst>
          </p:cNvPr>
          <p:cNvSpPr txBox="1"/>
          <p:nvPr/>
        </p:nvSpPr>
        <p:spPr>
          <a:xfrm>
            <a:off x="424543" y="1266529"/>
            <a:ext cx="6559918" cy="42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s-MX" sz="1250" b="1" i="1" dirty="0">
              <a:solidFill>
                <a:srgbClr val="FF7F41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200" b="1" i="1" dirty="0">
                <a:solidFill>
                  <a:srgbClr val="002060"/>
                </a:solidFill>
                <a:effectLst/>
                <a:latin typeface="Montserrat" pitchFamily="2" charset="0"/>
              </a:rPr>
              <a:t>Funciones Agregada (SUM, MAX, etc.): </a:t>
            </a:r>
            <a:r>
              <a:rPr lang="es-MX" sz="1200" i="1" dirty="0">
                <a:solidFill>
                  <a:srgbClr val="002060"/>
                </a:solidFill>
                <a:effectLst/>
                <a:latin typeface="Montserrat" pitchFamily="2" charset="0"/>
              </a:rPr>
              <a:t>es la función agregada de SQL que calcula </a:t>
            </a:r>
            <a:r>
              <a:rPr lang="es-MX" sz="1200" i="1" dirty="0">
                <a:solidFill>
                  <a:srgbClr val="002060"/>
                </a:solidFill>
                <a:latin typeface="Montserrat" pitchFamily="2" charset="0"/>
              </a:rPr>
              <a:t>algo con </a:t>
            </a:r>
            <a:r>
              <a:rPr lang="es-MX" sz="1200" i="1" dirty="0">
                <a:solidFill>
                  <a:srgbClr val="002060"/>
                </a:solidFill>
                <a:effectLst/>
                <a:latin typeface="Montserrat" pitchFamily="2" charset="0"/>
              </a:rPr>
              <a:t>los valores dados. </a:t>
            </a:r>
          </a:p>
          <a:p>
            <a:pPr algn="just">
              <a:lnSpc>
                <a:spcPct val="150000"/>
              </a:lnSpc>
            </a:pPr>
            <a:endParaRPr lang="es-MX" sz="1200" i="1" dirty="0">
              <a:solidFill>
                <a:srgbClr val="002060"/>
              </a:solidFill>
              <a:effectLst/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200" b="1" i="1" dirty="0">
                <a:solidFill>
                  <a:srgbClr val="002060"/>
                </a:solidFill>
                <a:effectLst/>
                <a:latin typeface="Montserrat" pitchFamily="2" charset="0"/>
              </a:rPr>
              <a:t>GROUP BY: </a:t>
            </a:r>
            <a:r>
              <a:rPr lang="es-MX" sz="1200" i="1" dirty="0">
                <a:solidFill>
                  <a:srgbClr val="002060"/>
                </a:solidFill>
                <a:effectLst/>
                <a:latin typeface="Montserrat" pitchFamily="2" charset="0"/>
              </a:rPr>
              <a:t>es una cláusula de SQL que divide las filas en grupos y calcula una función agregada establecida para cada grupo. Utilizando estas dos funciones juntas, puede calcular sumas totales para un grupo de filas.</a:t>
            </a:r>
          </a:p>
          <a:p>
            <a:pPr algn="just">
              <a:lnSpc>
                <a:spcPct val="150000"/>
              </a:lnSpc>
            </a:pPr>
            <a:endParaRPr lang="es-MX" sz="1200" i="1" dirty="0">
              <a:solidFill>
                <a:srgbClr val="002060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200" b="1" i="1" dirty="0" err="1">
                <a:solidFill>
                  <a:srgbClr val="002060"/>
                </a:solidFill>
                <a:latin typeface="Montserrat" pitchFamily="2" charset="0"/>
              </a:rPr>
              <a:t>Where</a:t>
            </a:r>
            <a:r>
              <a:rPr lang="es-MX" sz="1200" i="1" dirty="0">
                <a:solidFill>
                  <a:srgbClr val="002060"/>
                </a:solidFill>
                <a:latin typeface="Montserrat" pitchFamily="2" charset="0"/>
              </a:rPr>
              <a:t>: Puede utilizar una condición WHERE en su consulta con SUM(), MAX(), etc.  y GROUP BY. En este caso, el motor de base de datos altera el resultado según una condición para devolver los resultados de la consulta.</a:t>
            </a:r>
          </a:p>
          <a:p>
            <a:pPr algn="just">
              <a:lnSpc>
                <a:spcPct val="150000"/>
              </a:lnSpc>
            </a:pPr>
            <a:endParaRPr lang="es-MX" sz="1200" i="1" dirty="0">
              <a:solidFill>
                <a:srgbClr val="002060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200" b="1" i="1" dirty="0" err="1">
                <a:solidFill>
                  <a:srgbClr val="002060"/>
                </a:solidFill>
                <a:latin typeface="Montserrat" pitchFamily="2" charset="0"/>
              </a:rPr>
              <a:t>Having</a:t>
            </a:r>
            <a:r>
              <a:rPr lang="es-MX" sz="1200" i="1" dirty="0">
                <a:solidFill>
                  <a:srgbClr val="002060"/>
                </a:solidFill>
                <a:latin typeface="Montserrat" pitchFamily="2" charset="0"/>
              </a:rPr>
              <a:t>: Como WHERE , HAVING filtra las filas de una tabla. Mientras que WHERE intenta filtrar toda la tabla, </a:t>
            </a:r>
            <a:r>
              <a:rPr lang="es-MX" sz="1200" b="1" i="1" dirty="0">
                <a:solidFill>
                  <a:srgbClr val="002060"/>
                </a:solidFill>
                <a:latin typeface="Montserrat" pitchFamily="2" charset="0"/>
              </a:rPr>
              <a:t>HAVING filtra las filas dentro de cada uno de los grupos definidos por GROUP BY</a:t>
            </a:r>
            <a:endParaRPr lang="es-SV" sz="1200" b="1" i="1" dirty="0">
              <a:solidFill>
                <a:srgbClr val="002060"/>
              </a:solidFill>
              <a:latin typeface="Montserrat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D62DEBF-DC42-2EE6-A917-5523D77F88A8}"/>
              </a:ext>
            </a:extLst>
          </p:cNvPr>
          <p:cNvSpPr/>
          <p:nvPr/>
        </p:nvSpPr>
        <p:spPr>
          <a:xfrm>
            <a:off x="0" y="0"/>
            <a:ext cx="12192000" cy="126652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95000"/>
                </a:schemeClr>
              </a:gs>
              <a:gs pos="98000">
                <a:schemeClr val="accent6">
                  <a:alpha val="95000"/>
                </a:schemeClr>
              </a:gs>
              <a:gs pos="59000">
                <a:srgbClr val="7030A0">
                  <a:alpha val="9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sz="2200" dirty="0"/>
          </a:p>
        </p:txBody>
      </p:sp>
      <p:sp>
        <p:nvSpPr>
          <p:cNvPr id="2" name="PRESENTATION…">
            <a:extLst>
              <a:ext uri="{FF2B5EF4-FFF2-40B4-BE49-F238E27FC236}">
                <a16:creationId xmlns:a16="http://schemas.microsoft.com/office/drawing/2014/main" id="{B177B5E7-50A8-98C8-4493-B0C4B39E0333}"/>
              </a:ext>
            </a:extLst>
          </p:cNvPr>
          <p:cNvSpPr txBox="1"/>
          <p:nvPr/>
        </p:nvSpPr>
        <p:spPr>
          <a:xfrm>
            <a:off x="0" y="618700"/>
            <a:ext cx="6750996" cy="33855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defPPr>
              <a:defRPr lang="es-US"/>
            </a:defPPr>
            <a:lvl1pPr algn="ctr">
              <a:spcBef>
                <a:spcPct val="0"/>
              </a:spcBef>
              <a:spcAft>
                <a:spcPts val="1333"/>
              </a:spcAft>
              <a:buNone/>
              <a:defRPr sz="3600" b="1">
                <a:solidFill>
                  <a:srgbClr val="217B85"/>
                </a:solidFill>
                <a:latin typeface="Montserrat"/>
                <a:ea typeface="+mj-ea"/>
                <a:cs typeface="Arial"/>
              </a:defRPr>
            </a:lvl1pPr>
          </a:lstStyle>
          <a:p>
            <a:r>
              <a:rPr lang="es-ES" sz="2200" dirty="0">
                <a:solidFill>
                  <a:srgbClr val="FFFFFF"/>
                </a:solidFill>
                <a:sym typeface="Arial"/>
              </a:rPr>
              <a:t>Estructura Funciones Agregadas</a:t>
            </a:r>
            <a:endParaRPr lang="es-ES" sz="2200" dirty="0">
              <a:solidFill>
                <a:srgbClr val="FDDA24"/>
              </a:solidFill>
            </a:endParaRPr>
          </a:p>
        </p:txBody>
      </p:sp>
      <p:pic>
        <p:nvPicPr>
          <p:cNvPr id="5" name="Imagen 4" descr="Un hombre con un teléfono en la calle&#10;&#10;Descripción generada automáticamente">
            <a:extLst>
              <a:ext uri="{FF2B5EF4-FFF2-40B4-BE49-F238E27FC236}">
                <a16:creationId xmlns:a16="http://schemas.microsoft.com/office/drawing/2014/main" id="{1BCA9E58-A5A5-BD3D-6BF7-F86FEDD6045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95" r="28583"/>
          <a:stretch/>
        </p:blipFill>
        <p:spPr>
          <a:xfrm flipH="1">
            <a:off x="7198468" y="0"/>
            <a:ext cx="52075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387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19809-B528-523F-A20F-30260D169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0D4BE83-3DA3-9223-4BDB-7949E1D54E92}"/>
              </a:ext>
            </a:extLst>
          </p:cNvPr>
          <p:cNvSpPr txBox="1"/>
          <p:nvPr/>
        </p:nvSpPr>
        <p:spPr>
          <a:xfrm>
            <a:off x="424543" y="1266529"/>
            <a:ext cx="6559918" cy="2565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s-MX" sz="1250" b="1" i="1" dirty="0">
              <a:solidFill>
                <a:srgbClr val="FF7F41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200" i="1" dirty="0">
                <a:solidFill>
                  <a:srgbClr val="002060"/>
                </a:solidFill>
                <a:effectLst/>
                <a:latin typeface="Montserrat" pitchFamily="2" charset="0"/>
              </a:rPr>
              <a:t>La </a:t>
            </a:r>
            <a:r>
              <a:rPr lang="es-MX" sz="1200" b="1" i="1" dirty="0">
                <a:solidFill>
                  <a:srgbClr val="002060"/>
                </a:solidFill>
                <a:effectLst/>
                <a:latin typeface="Montserrat" pitchFamily="2" charset="0"/>
              </a:rPr>
              <a:t>función SUM () </a:t>
            </a:r>
            <a:r>
              <a:rPr lang="es-MX" sz="1200" i="1" dirty="0">
                <a:solidFill>
                  <a:srgbClr val="002060"/>
                </a:solidFill>
                <a:effectLst/>
                <a:latin typeface="Montserrat" pitchFamily="2" charset="0"/>
              </a:rPr>
              <a:t>devuelve el total de una columna numérica. Suele utilizarse cuando se necesita hallar el total de valores como ingresos por ventas, cantidades o gastos.</a:t>
            </a:r>
          </a:p>
          <a:p>
            <a:pPr algn="just">
              <a:lnSpc>
                <a:spcPct val="150000"/>
              </a:lnSpc>
            </a:pPr>
            <a:endParaRPr lang="es-MX" sz="1200" i="1" dirty="0">
              <a:solidFill>
                <a:srgbClr val="002060"/>
              </a:solidFill>
              <a:effectLst/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200" i="1" dirty="0" err="1">
                <a:solidFill>
                  <a:srgbClr val="002060"/>
                </a:solidFill>
                <a:effectLst/>
                <a:latin typeface="Montserrat" pitchFamily="2" charset="0"/>
              </a:rPr>
              <a:t>Ejmplo</a:t>
            </a:r>
            <a:r>
              <a:rPr lang="es-MX" sz="1200" i="1" dirty="0">
                <a:solidFill>
                  <a:srgbClr val="002060"/>
                </a:solidFill>
                <a:effectLst/>
                <a:latin typeface="Montserrat" pitchFamily="2" charset="0"/>
              </a:rPr>
              <a:t>: que quieres conocer la totalidad de los ingresos por ventas de tu empresa; puedes hacerlo ejecutando la siguiente consulta:</a:t>
            </a:r>
          </a:p>
          <a:p>
            <a:pPr algn="just">
              <a:lnSpc>
                <a:spcPct val="150000"/>
              </a:lnSpc>
            </a:pPr>
            <a:endParaRPr lang="es-MX" sz="1200" i="1" dirty="0">
              <a:solidFill>
                <a:srgbClr val="002060"/>
              </a:solidFill>
              <a:effectLst/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endParaRPr lang="es-SV" sz="1200" i="1" dirty="0">
              <a:solidFill>
                <a:srgbClr val="002060"/>
              </a:solidFill>
              <a:latin typeface="Montserrat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710B3AF-3DD7-652A-D28B-6FC6AF55FDFF}"/>
              </a:ext>
            </a:extLst>
          </p:cNvPr>
          <p:cNvSpPr/>
          <p:nvPr/>
        </p:nvSpPr>
        <p:spPr>
          <a:xfrm>
            <a:off x="0" y="0"/>
            <a:ext cx="12192000" cy="126652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95000"/>
                </a:schemeClr>
              </a:gs>
              <a:gs pos="98000">
                <a:schemeClr val="accent6">
                  <a:alpha val="95000"/>
                </a:schemeClr>
              </a:gs>
              <a:gs pos="59000">
                <a:srgbClr val="7030A0">
                  <a:alpha val="9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sz="2200" dirty="0"/>
          </a:p>
        </p:txBody>
      </p:sp>
      <p:sp>
        <p:nvSpPr>
          <p:cNvPr id="2" name="PRESENTATION…">
            <a:extLst>
              <a:ext uri="{FF2B5EF4-FFF2-40B4-BE49-F238E27FC236}">
                <a16:creationId xmlns:a16="http://schemas.microsoft.com/office/drawing/2014/main" id="{79003D00-AD52-B482-EE98-D521BCE1C187}"/>
              </a:ext>
            </a:extLst>
          </p:cNvPr>
          <p:cNvSpPr txBox="1"/>
          <p:nvPr/>
        </p:nvSpPr>
        <p:spPr>
          <a:xfrm>
            <a:off x="0" y="618700"/>
            <a:ext cx="6750996" cy="33855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defPPr>
              <a:defRPr lang="es-US"/>
            </a:defPPr>
            <a:lvl1pPr algn="ctr">
              <a:spcBef>
                <a:spcPct val="0"/>
              </a:spcBef>
              <a:spcAft>
                <a:spcPts val="1333"/>
              </a:spcAft>
              <a:buNone/>
              <a:defRPr sz="3600" b="1">
                <a:solidFill>
                  <a:srgbClr val="217B85"/>
                </a:solidFill>
                <a:latin typeface="Montserrat"/>
                <a:ea typeface="+mj-ea"/>
                <a:cs typeface="Arial"/>
              </a:defRPr>
            </a:lvl1pPr>
          </a:lstStyle>
          <a:p>
            <a:r>
              <a:rPr lang="es-ES" sz="2200" dirty="0">
                <a:solidFill>
                  <a:srgbClr val="FFFFFF"/>
                </a:solidFill>
                <a:sym typeface="Arial"/>
              </a:rPr>
              <a:t>FUNCION SUM()</a:t>
            </a:r>
            <a:endParaRPr lang="es-ES" sz="2200" dirty="0">
              <a:solidFill>
                <a:srgbClr val="FDDA24"/>
              </a:solidFill>
            </a:endParaRPr>
          </a:p>
        </p:txBody>
      </p:sp>
      <p:pic>
        <p:nvPicPr>
          <p:cNvPr id="5" name="Imagen 4" descr="Un hombre con un teléfono en la calle&#10;&#10;Descripción generada automáticamente">
            <a:extLst>
              <a:ext uri="{FF2B5EF4-FFF2-40B4-BE49-F238E27FC236}">
                <a16:creationId xmlns:a16="http://schemas.microsoft.com/office/drawing/2014/main" id="{30EED16C-44AA-1EE5-AD6F-27D7D971D3D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95" r="28583"/>
          <a:stretch/>
        </p:blipFill>
        <p:spPr>
          <a:xfrm flipH="1">
            <a:off x="7198468" y="0"/>
            <a:ext cx="5207539" cy="6858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B581257-046D-BFA4-85CB-51A806FD3A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9228" y="3832168"/>
            <a:ext cx="3645087" cy="5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178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727D5-A887-BA5A-90CA-FCF3C8EE0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DBEBD74-DD65-3C4E-6A9B-99B6B9CC6498}"/>
              </a:ext>
            </a:extLst>
          </p:cNvPr>
          <p:cNvSpPr txBox="1"/>
          <p:nvPr/>
        </p:nvSpPr>
        <p:spPr>
          <a:xfrm>
            <a:off x="424543" y="1266529"/>
            <a:ext cx="6559918" cy="2011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s-MX" sz="1250" b="1" i="1" dirty="0">
              <a:solidFill>
                <a:srgbClr val="FF7F41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200" i="1" dirty="0">
                <a:solidFill>
                  <a:srgbClr val="002060"/>
                </a:solidFill>
                <a:effectLst/>
                <a:latin typeface="Montserrat" pitchFamily="2" charset="0"/>
              </a:rPr>
              <a:t>La </a:t>
            </a:r>
            <a:r>
              <a:rPr lang="es-MX" sz="1200" b="1" i="1" dirty="0">
                <a:solidFill>
                  <a:srgbClr val="002060"/>
                </a:solidFill>
                <a:effectLst/>
                <a:latin typeface="Montserrat" pitchFamily="2" charset="0"/>
              </a:rPr>
              <a:t>función COUNT () </a:t>
            </a:r>
            <a:r>
              <a:rPr lang="es-MX" sz="1200" i="1" dirty="0">
                <a:solidFill>
                  <a:srgbClr val="002060"/>
                </a:solidFill>
                <a:effectLst/>
                <a:latin typeface="Montserrat" pitchFamily="2" charset="0"/>
              </a:rPr>
              <a:t>El objetivo de esta función es contar el número de filas de una tabla o el número de valores no nulos de una columna.</a:t>
            </a:r>
          </a:p>
          <a:p>
            <a:pPr algn="just">
              <a:lnSpc>
                <a:spcPct val="150000"/>
              </a:lnSpc>
            </a:pPr>
            <a:endParaRPr lang="es-MX" sz="1200" i="1" dirty="0">
              <a:solidFill>
                <a:srgbClr val="002060"/>
              </a:solidFill>
              <a:effectLst/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200" i="1" dirty="0">
                <a:solidFill>
                  <a:srgbClr val="002060"/>
                </a:solidFill>
                <a:effectLst/>
                <a:latin typeface="Montserrat" pitchFamily="2" charset="0"/>
              </a:rPr>
              <a:t>Ejemplo que desea averiguar cuántos productos se venden en su tienda; puede utilizar la siguiente consulta:</a:t>
            </a:r>
          </a:p>
          <a:p>
            <a:pPr algn="just">
              <a:lnSpc>
                <a:spcPct val="150000"/>
              </a:lnSpc>
            </a:pPr>
            <a:endParaRPr lang="es-SV" sz="1200" i="1" dirty="0">
              <a:solidFill>
                <a:srgbClr val="002060"/>
              </a:solidFill>
              <a:latin typeface="Montserrat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F395967-4F68-773F-EA49-F161DE3F25E5}"/>
              </a:ext>
            </a:extLst>
          </p:cNvPr>
          <p:cNvSpPr/>
          <p:nvPr/>
        </p:nvSpPr>
        <p:spPr>
          <a:xfrm>
            <a:off x="0" y="0"/>
            <a:ext cx="12192000" cy="126652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95000"/>
                </a:schemeClr>
              </a:gs>
              <a:gs pos="98000">
                <a:schemeClr val="accent6">
                  <a:alpha val="95000"/>
                </a:schemeClr>
              </a:gs>
              <a:gs pos="59000">
                <a:srgbClr val="7030A0">
                  <a:alpha val="9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sz="2200" dirty="0"/>
          </a:p>
        </p:txBody>
      </p:sp>
      <p:sp>
        <p:nvSpPr>
          <p:cNvPr id="2" name="PRESENTATION…">
            <a:extLst>
              <a:ext uri="{FF2B5EF4-FFF2-40B4-BE49-F238E27FC236}">
                <a16:creationId xmlns:a16="http://schemas.microsoft.com/office/drawing/2014/main" id="{8DEEDB46-CF9F-EF2F-BC6C-9F105F562FA0}"/>
              </a:ext>
            </a:extLst>
          </p:cNvPr>
          <p:cNvSpPr txBox="1"/>
          <p:nvPr/>
        </p:nvSpPr>
        <p:spPr>
          <a:xfrm>
            <a:off x="0" y="618700"/>
            <a:ext cx="6750996" cy="33855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defPPr>
              <a:defRPr lang="es-US"/>
            </a:defPPr>
            <a:lvl1pPr algn="ctr">
              <a:spcBef>
                <a:spcPct val="0"/>
              </a:spcBef>
              <a:spcAft>
                <a:spcPts val="1333"/>
              </a:spcAft>
              <a:buNone/>
              <a:defRPr sz="3600" b="1">
                <a:solidFill>
                  <a:srgbClr val="217B85"/>
                </a:solidFill>
                <a:latin typeface="Montserrat"/>
                <a:ea typeface="+mj-ea"/>
                <a:cs typeface="Arial"/>
              </a:defRPr>
            </a:lvl1pPr>
          </a:lstStyle>
          <a:p>
            <a:r>
              <a:rPr lang="es-ES" sz="2200" dirty="0">
                <a:solidFill>
                  <a:srgbClr val="FFFFFF"/>
                </a:solidFill>
                <a:sym typeface="Arial"/>
              </a:rPr>
              <a:t>FUNCION COUNT()</a:t>
            </a:r>
            <a:endParaRPr lang="es-ES" sz="2200" dirty="0">
              <a:solidFill>
                <a:srgbClr val="FDDA24"/>
              </a:solidFill>
            </a:endParaRPr>
          </a:p>
        </p:txBody>
      </p:sp>
      <p:pic>
        <p:nvPicPr>
          <p:cNvPr id="5" name="Imagen 4" descr="Un hombre con un teléfono en la calle&#10;&#10;Descripción generada automáticamente">
            <a:extLst>
              <a:ext uri="{FF2B5EF4-FFF2-40B4-BE49-F238E27FC236}">
                <a16:creationId xmlns:a16="http://schemas.microsoft.com/office/drawing/2014/main" id="{E71FA750-AA97-3AF4-CE21-C62D85779EE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95" r="28583"/>
          <a:stretch/>
        </p:blipFill>
        <p:spPr>
          <a:xfrm flipH="1">
            <a:off x="7198468" y="0"/>
            <a:ext cx="5207539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A91AA50-F02A-99E2-F2CE-326FD7222C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1506" y="3609216"/>
            <a:ext cx="3035456" cy="61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975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BE089-C66E-6108-0B99-BE188E037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C380294-42B1-94A9-B7E0-815146A33EBD}"/>
              </a:ext>
            </a:extLst>
          </p:cNvPr>
          <p:cNvSpPr txBox="1"/>
          <p:nvPr/>
        </p:nvSpPr>
        <p:spPr>
          <a:xfrm>
            <a:off x="424543" y="1266529"/>
            <a:ext cx="6559918" cy="1734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s-MX" sz="1250" b="1" i="1" dirty="0">
              <a:solidFill>
                <a:srgbClr val="FF7F41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200" b="1" i="1" dirty="0">
                <a:solidFill>
                  <a:srgbClr val="002060"/>
                </a:solidFill>
                <a:effectLst/>
                <a:latin typeface="Montserrat" pitchFamily="2" charset="0"/>
              </a:rPr>
              <a:t>función AVG ():</a:t>
            </a:r>
            <a:r>
              <a:rPr lang="es-MX" sz="1200" i="1" dirty="0">
                <a:solidFill>
                  <a:srgbClr val="002060"/>
                </a:solidFill>
                <a:effectLst/>
                <a:latin typeface="Montserrat" pitchFamily="2" charset="0"/>
              </a:rPr>
              <a:t>  Se utiliza cuando se busca el precio medio, la valoración, las unidades vendidas, etc. </a:t>
            </a:r>
          </a:p>
          <a:p>
            <a:pPr algn="just">
              <a:lnSpc>
                <a:spcPct val="150000"/>
              </a:lnSpc>
            </a:pPr>
            <a:endParaRPr lang="es-MX" sz="1200" i="1" dirty="0">
              <a:solidFill>
                <a:srgbClr val="002060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200" i="1" dirty="0">
                <a:solidFill>
                  <a:srgbClr val="002060"/>
                </a:solidFill>
                <a:effectLst/>
                <a:latin typeface="Montserrat" pitchFamily="2" charset="0"/>
              </a:rPr>
              <a:t>Por ejemplo, sería beneficiosa si diriges un servicio de </a:t>
            </a:r>
            <a:r>
              <a:rPr lang="es-MX" sz="1200" i="1" dirty="0" err="1">
                <a:solidFill>
                  <a:srgbClr val="002060"/>
                </a:solidFill>
                <a:effectLst/>
                <a:latin typeface="Montserrat" pitchFamily="2" charset="0"/>
              </a:rPr>
              <a:t>streaming</a:t>
            </a:r>
            <a:r>
              <a:rPr lang="es-MX" sz="1200" i="1" dirty="0">
                <a:solidFill>
                  <a:srgbClr val="002060"/>
                </a:solidFill>
                <a:effectLst/>
                <a:latin typeface="Montserrat" pitchFamily="2" charset="0"/>
              </a:rPr>
              <a:t> por suscripción y quieres descubrir la duración media de las sesiones de usuario en tu plataforma:</a:t>
            </a:r>
            <a:endParaRPr lang="es-SV" sz="1200" i="1" dirty="0">
              <a:solidFill>
                <a:srgbClr val="002060"/>
              </a:solidFill>
              <a:latin typeface="Montserrat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C3B227B-BF07-D484-24E0-316E18D0CB9D}"/>
              </a:ext>
            </a:extLst>
          </p:cNvPr>
          <p:cNvSpPr/>
          <p:nvPr/>
        </p:nvSpPr>
        <p:spPr>
          <a:xfrm>
            <a:off x="0" y="0"/>
            <a:ext cx="12192000" cy="126652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95000"/>
                </a:schemeClr>
              </a:gs>
              <a:gs pos="98000">
                <a:schemeClr val="accent6">
                  <a:alpha val="95000"/>
                </a:schemeClr>
              </a:gs>
              <a:gs pos="59000">
                <a:srgbClr val="7030A0">
                  <a:alpha val="9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sz="2200" dirty="0"/>
          </a:p>
        </p:txBody>
      </p:sp>
      <p:sp>
        <p:nvSpPr>
          <p:cNvPr id="2" name="PRESENTATION…">
            <a:extLst>
              <a:ext uri="{FF2B5EF4-FFF2-40B4-BE49-F238E27FC236}">
                <a16:creationId xmlns:a16="http://schemas.microsoft.com/office/drawing/2014/main" id="{C0653E4F-667E-8697-A525-B00653BCE966}"/>
              </a:ext>
            </a:extLst>
          </p:cNvPr>
          <p:cNvSpPr txBox="1"/>
          <p:nvPr/>
        </p:nvSpPr>
        <p:spPr>
          <a:xfrm>
            <a:off x="0" y="618700"/>
            <a:ext cx="6750996" cy="33855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defPPr>
              <a:defRPr lang="es-US"/>
            </a:defPPr>
            <a:lvl1pPr algn="ctr">
              <a:spcBef>
                <a:spcPct val="0"/>
              </a:spcBef>
              <a:spcAft>
                <a:spcPts val="1333"/>
              </a:spcAft>
              <a:buNone/>
              <a:defRPr sz="3600" b="1">
                <a:solidFill>
                  <a:srgbClr val="217B85"/>
                </a:solidFill>
                <a:latin typeface="Montserrat"/>
                <a:ea typeface="+mj-ea"/>
                <a:cs typeface="Arial"/>
              </a:defRPr>
            </a:lvl1pPr>
          </a:lstStyle>
          <a:p>
            <a:r>
              <a:rPr lang="es-ES" sz="2200" dirty="0">
                <a:solidFill>
                  <a:srgbClr val="FFFFFF"/>
                </a:solidFill>
                <a:sym typeface="Arial"/>
              </a:rPr>
              <a:t>FUNCION AVG()</a:t>
            </a:r>
            <a:endParaRPr lang="es-ES" sz="2200" dirty="0">
              <a:solidFill>
                <a:srgbClr val="FDDA24"/>
              </a:solidFill>
            </a:endParaRPr>
          </a:p>
        </p:txBody>
      </p:sp>
      <p:pic>
        <p:nvPicPr>
          <p:cNvPr id="5" name="Imagen 4" descr="Un hombre con un teléfono en la calle&#10;&#10;Descripción generada automáticamente">
            <a:extLst>
              <a:ext uri="{FF2B5EF4-FFF2-40B4-BE49-F238E27FC236}">
                <a16:creationId xmlns:a16="http://schemas.microsoft.com/office/drawing/2014/main" id="{1AB46DF1-CC86-7A97-2577-3D65998D48B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95" r="28583"/>
          <a:stretch/>
        </p:blipFill>
        <p:spPr>
          <a:xfrm flipH="1">
            <a:off x="7198468" y="0"/>
            <a:ext cx="5207539" cy="6858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1F5232E-3D22-5EF0-6C5E-89559A39E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1711" y="3723666"/>
            <a:ext cx="4959605" cy="57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48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99FDD-BC5E-446B-91DB-415F6EC20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FFF9BA7-B764-69F3-121A-3F2D948F5961}"/>
              </a:ext>
            </a:extLst>
          </p:cNvPr>
          <p:cNvSpPr txBox="1"/>
          <p:nvPr/>
        </p:nvSpPr>
        <p:spPr>
          <a:xfrm>
            <a:off x="424543" y="1266529"/>
            <a:ext cx="6559918" cy="2565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s-MX" sz="1250" b="1" i="1" dirty="0">
              <a:solidFill>
                <a:srgbClr val="FF7F41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200" b="1" i="1" dirty="0">
                <a:solidFill>
                  <a:srgbClr val="002060"/>
                </a:solidFill>
                <a:effectLst/>
                <a:latin typeface="Montserrat" pitchFamily="2" charset="0"/>
              </a:rPr>
              <a:t>función MIN ():</a:t>
            </a:r>
            <a:r>
              <a:rPr lang="es-MX" sz="1200" i="1" dirty="0">
                <a:solidFill>
                  <a:srgbClr val="002060"/>
                </a:solidFill>
                <a:effectLst/>
                <a:latin typeface="Montserrat" pitchFamily="2" charset="0"/>
              </a:rPr>
              <a:t>  La función MIN() devuelve el valor más pequeño de una columna. Es especialmente útil para localizar el valor más bajo o más pequeño de un conjunto de datos.</a:t>
            </a:r>
          </a:p>
          <a:p>
            <a:pPr algn="just">
              <a:lnSpc>
                <a:spcPct val="150000"/>
              </a:lnSpc>
            </a:pPr>
            <a:endParaRPr lang="es-MX" sz="1200" i="1" dirty="0">
              <a:solidFill>
                <a:srgbClr val="002060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200" i="1" dirty="0">
                <a:solidFill>
                  <a:srgbClr val="002060"/>
                </a:solidFill>
                <a:effectLst/>
                <a:latin typeface="Montserrat" pitchFamily="2" charset="0"/>
              </a:rPr>
              <a:t>Por ejemplo:  la posibilidad de que un gestor intente identificar el tiempo de respuesta más rápido a una pregunta de un cliente para los tickets de soporte; la siguiente consulta puede devolver la respuesta:</a:t>
            </a:r>
          </a:p>
          <a:p>
            <a:pPr algn="just">
              <a:lnSpc>
                <a:spcPct val="150000"/>
              </a:lnSpc>
            </a:pPr>
            <a:endParaRPr lang="es-MX" sz="1200" i="1" dirty="0">
              <a:solidFill>
                <a:srgbClr val="002060"/>
              </a:solidFill>
              <a:effectLst/>
              <a:latin typeface="Montserrat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C1AE873-9FDD-29DB-68F7-34CC3207F814}"/>
              </a:ext>
            </a:extLst>
          </p:cNvPr>
          <p:cNvSpPr/>
          <p:nvPr/>
        </p:nvSpPr>
        <p:spPr>
          <a:xfrm>
            <a:off x="0" y="0"/>
            <a:ext cx="12192000" cy="126652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95000"/>
                </a:schemeClr>
              </a:gs>
              <a:gs pos="98000">
                <a:schemeClr val="accent6">
                  <a:alpha val="95000"/>
                </a:schemeClr>
              </a:gs>
              <a:gs pos="59000">
                <a:srgbClr val="7030A0">
                  <a:alpha val="9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sz="2200" dirty="0"/>
          </a:p>
        </p:txBody>
      </p:sp>
      <p:sp>
        <p:nvSpPr>
          <p:cNvPr id="2" name="PRESENTATION…">
            <a:extLst>
              <a:ext uri="{FF2B5EF4-FFF2-40B4-BE49-F238E27FC236}">
                <a16:creationId xmlns:a16="http://schemas.microsoft.com/office/drawing/2014/main" id="{DA58705C-93DB-A723-1958-8FDC264641FB}"/>
              </a:ext>
            </a:extLst>
          </p:cNvPr>
          <p:cNvSpPr txBox="1"/>
          <p:nvPr/>
        </p:nvSpPr>
        <p:spPr>
          <a:xfrm>
            <a:off x="0" y="618700"/>
            <a:ext cx="6750996" cy="33855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defPPr>
              <a:defRPr lang="es-US"/>
            </a:defPPr>
            <a:lvl1pPr algn="ctr">
              <a:spcBef>
                <a:spcPct val="0"/>
              </a:spcBef>
              <a:spcAft>
                <a:spcPts val="1333"/>
              </a:spcAft>
              <a:buNone/>
              <a:defRPr sz="3600" b="1">
                <a:solidFill>
                  <a:srgbClr val="217B85"/>
                </a:solidFill>
                <a:latin typeface="Montserrat"/>
                <a:ea typeface="+mj-ea"/>
                <a:cs typeface="Arial"/>
              </a:defRPr>
            </a:lvl1pPr>
          </a:lstStyle>
          <a:p>
            <a:r>
              <a:rPr lang="es-ES" sz="2200" dirty="0">
                <a:solidFill>
                  <a:srgbClr val="FFFFFF"/>
                </a:solidFill>
                <a:sym typeface="Arial"/>
              </a:rPr>
              <a:t>FUNCION MIN()</a:t>
            </a:r>
            <a:endParaRPr lang="es-ES" sz="2200" dirty="0">
              <a:solidFill>
                <a:srgbClr val="FDDA24"/>
              </a:solidFill>
            </a:endParaRPr>
          </a:p>
        </p:txBody>
      </p:sp>
      <p:pic>
        <p:nvPicPr>
          <p:cNvPr id="5" name="Imagen 4" descr="Un hombre con un teléfono en la calle&#10;&#10;Descripción generada automáticamente">
            <a:extLst>
              <a:ext uri="{FF2B5EF4-FFF2-40B4-BE49-F238E27FC236}">
                <a16:creationId xmlns:a16="http://schemas.microsoft.com/office/drawing/2014/main" id="{63B06F80-F30F-B633-1F3A-D1351FC3A03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95" r="28583"/>
          <a:stretch/>
        </p:blipFill>
        <p:spPr>
          <a:xfrm flipH="1">
            <a:off x="7198468" y="0"/>
            <a:ext cx="5207539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2A5B74D-65B6-9D78-2999-8D1C6420D2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845" y="4234527"/>
            <a:ext cx="4781796" cy="60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654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3266B-2DC6-7FED-A3B3-424568055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EB69019-5584-037D-FB2B-470FC98AA8E9}"/>
              </a:ext>
            </a:extLst>
          </p:cNvPr>
          <p:cNvSpPr txBox="1"/>
          <p:nvPr/>
        </p:nvSpPr>
        <p:spPr>
          <a:xfrm>
            <a:off x="424543" y="1266529"/>
            <a:ext cx="6559918" cy="2011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s-MX" sz="1250" b="1" i="1" dirty="0">
              <a:solidFill>
                <a:srgbClr val="FF7F41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200" b="1" i="1" dirty="0">
                <a:solidFill>
                  <a:srgbClr val="002060"/>
                </a:solidFill>
                <a:effectLst/>
                <a:latin typeface="Montserrat" pitchFamily="2" charset="0"/>
              </a:rPr>
              <a:t>función MAX ():</a:t>
            </a:r>
            <a:r>
              <a:rPr lang="es-MX" sz="1200" i="1" dirty="0">
                <a:solidFill>
                  <a:srgbClr val="002060"/>
                </a:solidFill>
                <a:effectLst/>
                <a:latin typeface="Montserrat" pitchFamily="2" charset="0"/>
              </a:rPr>
              <a:t>   devuelve el mayor valor de una columna. Es útil para determinar el valor más alto de un conjunto de datos.</a:t>
            </a:r>
          </a:p>
          <a:p>
            <a:pPr algn="just">
              <a:lnSpc>
                <a:spcPct val="150000"/>
              </a:lnSpc>
            </a:pPr>
            <a:endParaRPr lang="es-MX" sz="1200" i="1" dirty="0">
              <a:solidFill>
                <a:srgbClr val="002060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200" i="1" dirty="0">
                <a:solidFill>
                  <a:srgbClr val="002060"/>
                </a:solidFill>
                <a:effectLst/>
                <a:latin typeface="Montserrat" pitchFamily="2" charset="0"/>
              </a:rPr>
              <a:t>Por ejemplo:  Supongamos que posee un sitio web de comercio electrónico y desea conocer el valor más alto del pedido realizado por un cliente en su tienda en línea. Esta es la consulta que escribiría: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808517B-6A1E-2EB1-6B5F-CDB657DF5AFF}"/>
              </a:ext>
            </a:extLst>
          </p:cNvPr>
          <p:cNvSpPr/>
          <p:nvPr/>
        </p:nvSpPr>
        <p:spPr>
          <a:xfrm>
            <a:off x="0" y="0"/>
            <a:ext cx="12192000" cy="126652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95000"/>
                </a:schemeClr>
              </a:gs>
              <a:gs pos="98000">
                <a:schemeClr val="accent6">
                  <a:alpha val="95000"/>
                </a:schemeClr>
              </a:gs>
              <a:gs pos="59000">
                <a:srgbClr val="7030A0">
                  <a:alpha val="9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sz="2200" dirty="0"/>
          </a:p>
        </p:txBody>
      </p:sp>
      <p:sp>
        <p:nvSpPr>
          <p:cNvPr id="2" name="PRESENTATION…">
            <a:extLst>
              <a:ext uri="{FF2B5EF4-FFF2-40B4-BE49-F238E27FC236}">
                <a16:creationId xmlns:a16="http://schemas.microsoft.com/office/drawing/2014/main" id="{3F4D0063-8867-E77C-E6FF-6BBAE9DE68F1}"/>
              </a:ext>
            </a:extLst>
          </p:cNvPr>
          <p:cNvSpPr txBox="1"/>
          <p:nvPr/>
        </p:nvSpPr>
        <p:spPr>
          <a:xfrm>
            <a:off x="0" y="618700"/>
            <a:ext cx="6750996" cy="33855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defPPr>
              <a:defRPr lang="es-US"/>
            </a:defPPr>
            <a:lvl1pPr algn="ctr">
              <a:spcBef>
                <a:spcPct val="0"/>
              </a:spcBef>
              <a:spcAft>
                <a:spcPts val="1333"/>
              </a:spcAft>
              <a:buNone/>
              <a:defRPr sz="3600" b="1">
                <a:solidFill>
                  <a:srgbClr val="217B85"/>
                </a:solidFill>
                <a:latin typeface="Montserrat"/>
                <a:ea typeface="+mj-ea"/>
                <a:cs typeface="Arial"/>
              </a:defRPr>
            </a:lvl1pPr>
          </a:lstStyle>
          <a:p>
            <a:r>
              <a:rPr lang="es-ES" sz="2200" dirty="0">
                <a:solidFill>
                  <a:srgbClr val="FFFFFF"/>
                </a:solidFill>
                <a:sym typeface="Arial"/>
              </a:rPr>
              <a:t>FUNCION MAX()</a:t>
            </a:r>
            <a:endParaRPr lang="es-ES" sz="2200" dirty="0">
              <a:solidFill>
                <a:srgbClr val="FDDA24"/>
              </a:solidFill>
            </a:endParaRPr>
          </a:p>
        </p:txBody>
      </p:sp>
      <p:pic>
        <p:nvPicPr>
          <p:cNvPr id="5" name="Imagen 4" descr="Un hombre con un teléfono en la calle&#10;&#10;Descripción generada automáticamente">
            <a:extLst>
              <a:ext uri="{FF2B5EF4-FFF2-40B4-BE49-F238E27FC236}">
                <a16:creationId xmlns:a16="http://schemas.microsoft.com/office/drawing/2014/main" id="{310B3184-26FF-9165-FA67-82C0385207E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95" r="28583"/>
          <a:stretch/>
        </p:blipFill>
        <p:spPr>
          <a:xfrm flipH="1">
            <a:off x="7198468" y="0"/>
            <a:ext cx="5207539" cy="6858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3831E6A-B488-9F25-1A28-B93E64AA0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9108" y="3709370"/>
            <a:ext cx="3943553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540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40CAD-B53F-5B03-F118-C743C2C1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0110B34A-276C-6DBF-7AB4-39EF7E66C9C7}"/>
              </a:ext>
            </a:extLst>
          </p:cNvPr>
          <p:cNvSpPr/>
          <p:nvPr/>
        </p:nvSpPr>
        <p:spPr>
          <a:xfrm>
            <a:off x="5798900" y="685800"/>
            <a:ext cx="45719" cy="4942114"/>
          </a:xfrm>
          <a:prstGeom prst="rect">
            <a:avLst/>
          </a:prstGeom>
          <a:solidFill>
            <a:srgbClr val="FF7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F277193-F2F0-FBF0-EAB3-FB64E4396E14}"/>
              </a:ext>
            </a:extLst>
          </p:cNvPr>
          <p:cNvSpPr/>
          <p:nvPr/>
        </p:nvSpPr>
        <p:spPr>
          <a:xfrm>
            <a:off x="1" y="0"/>
            <a:ext cx="5033912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95000"/>
                </a:schemeClr>
              </a:gs>
              <a:gs pos="98000">
                <a:schemeClr val="accent6">
                  <a:alpha val="95000"/>
                </a:schemeClr>
              </a:gs>
              <a:gs pos="59000">
                <a:srgbClr val="7030A0">
                  <a:alpha val="9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sz="2200" dirty="0"/>
          </a:p>
        </p:txBody>
      </p:sp>
      <p:sp>
        <p:nvSpPr>
          <p:cNvPr id="10" name="PRESENTATION…">
            <a:extLst>
              <a:ext uri="{FF2B5EF4-FFF2-40B4-BE49-F238E27FC236}">
                <a16:creationId xmlns:a16="http://schemas.microsoft.com/office/drawing/2014/main" id="{3360E3DD-3E90-F5D3-ABBE-F5E638152CEF}"/>
              </a:ext>
            </a:extLst>
          </p:cNvPr>
          <p:cNvSpPr txBox="1"/>
          <p:nvPr/>
        </p:nvSpPr>
        <p:spPr>
          <a:xfrm>
            <a:off x="494122" y="463350"/>
            <a:ext cx="3076392" cy="6771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defPPr>
              <a:defRPr lang="es-US"/>
            </a:defPPr>
            <a:lvl1pPr algn="ctr">
              <a:spcBef>
                <a:spcPct val="0"/>
              </a:spcBef>
              <a:spcAft>
                <a:spcPts val="1333"/>
              </a:spcAft>
              <a:buNone/>
              <a:defRPr sz="3600" b="1">
                <a:solidFill>
                  <a:srgbClr val="217B85"/>
                </a:solidFill>
                <a:latin typeface="Montserrat"/>
                <a:ea typeface="+mj-ea"/>
                <a:cs typeface="Arial"/>
              </a:defRPr>
            </a:lvl1pPr>
          </a:lstStyle>
          <a:p>
            <a:pPr algn="l"/>
            <a:r>
              <a:rPr lang="es-ES" sz="2200" dirty="0">
                <a:solidFill>
                  <a:srgbClr val="FFFFFF"/>
                </a:solidFill>
                <a:sym typeface="Arial"/>
              </a:rPr>
              <a:t>Ejemplos función SUM()</a:t>
            </a:r>
            <a:endParaRPr lang="es-ES" sz="2200" dirty="0">
              <a:solidFill>
                <a:srgbClr val="E1F7FF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B0C07A0-E044-40FA-B96C-25E9544C4EAD}"/>
              </a:ext>
            </a:extLst>
          </p:cNvPr>
          <p:cNvSpPr txBox="1"/>
          <p:nvPr/>
        </p:nvSpPr>
        <p:spPr>
          <a:xfrm>
            <a:off x="6096000" y="860693"/>
            <a:ext cx="5429717" cy="4257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1400" i="1" dirty="0">
                <a:solidFill>
                  <a:srgbClr val="002060"/>
                </a:solidFill>
                <a:latin typeface="Montserrat" pitchFamily="2" charset="0"/>
              </a:rPr>
              <a:t>Determinar el monto del salario total que paga la empresa.</a:t>
            </a:r>
          </a:p>
          <a:p>
            <a:pPr algn="just">
              <a:lnSpc>
                <a:spcPct val="150000"/>
              </a:lnSpc>
            </a:pPr>
            <a:endParaRPr lang="es-MX" sz="1400" i="1" dirty="0">
              <a:solidFill>
                <a:srgbClr val="002060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400" i="1" dirty="0">
                <a:solidFill>
                  <a:srgbClr val="002060"/>
                </a:solidFill>
                <a:latin typeface="Montserrat" pitchFamily="2" charset="0"/>
              </a:rPr>
              <a:t>Determinar el salario total que paga la empresa por departamento.</a:t>
            </a:r>
          </a:p>
          <a:p>
            <a:pPr algn="just">
              <a:lnSpc>
                <a:spcPct val="150000"/>
              </a:lnSpc>
            </a:pPr>
            <a:endParaRPr lang="es-MX" sz="1400" i="1" dirty="0">
              <a:solidFill>
                <a:srgbClr val="002060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400" i="1" dirty="0">
                <a:solidFill>
                  <a:srgbClr val="002060"/>
                </a:solidFill>
                <a:latin typeface="Montserrat" pitchFamily="2" charset="0"/>
              </a:rPr>
              <a:t>Determinar el salario total que paga la empresa por puesto de trabajo.</a:t>
            </a:r>
          </a:p>
          <a:p>
            <a:pPr algn="just">
              <a:lnSpc>
                <a:spcPct val="150000"/>
              </a:lnSpc>
            </a:pPr>
            <a:endParaRPr lang="es-MX" sz="1400" i="1" dirty="0">
              <a:solidFill>
                <a:srgbClr val="002060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400" i="1" dirty="0">
                <a:solidFill>
                  <a:srgbClr val="002060"/>
                </a:solidFill>
                <a:latin typeface="Montserrat" pitchFamily="2" charset="0"/>
              </a:rPr>
              <a:t>Determinar el salario total que paga la empresa por departamento y puesto de trabajo.</a:t>
            </a:r>
          </a:p>
          <a:p>
            <a:pPr algn="just">
              <a:lnSpc>
                <a:spcPct val="150000"/>
              </a:lnSpc>
            </a:pPr>
            <a:endParaRPr lang="es-MX" sz="1400" i="1" dirty="0">
              <a:solidFill>
                <a:srgbClr val="002060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endParaRPr lang="es-MX" sz="1400" i="1" dirty="0">
              <a:solidFill>
                <a:srgbClr val="002060"/>
              </a:solidFill>
              <a:latin typeface="Montserrat" pitchFamily="2" charset="0"/>
            </a:endParaRPr>
          </a:p>
        </p:txBody>
      </p:sp>
      <p:pic>
        <p:nvPicPr>
          <p:cNvPr id="9" name="Imagen 8" descr="Mujer con una caja de cartón&#10;&#10;Descripción generada automáticamente">
            <a:extLst>
              <a:ext uri="{FF2B5EF4-FFF2-40B4-BE49-F238E27FC236}">
                <a16:creationId xmlns:a16="http://schemas.microsoft.com/office/drawing/2014/main" id="{2D52F133-750F-52CE-E208-209CC3E79A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748" y="1100058"/>
            <a:ext cx="5126871" cy="575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766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17D7D-782A-381C-A503-6DB5916D9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03DCC5DB-66B8-CDB3-03F3-0B1F5A67599B}"/>
              </a:ext>
            </a:extLst>
          </p:cNvPr>
          <p:cNvSpPr/>
          <p:nvPr/>
        </p:nvSpPr>
        <p:spPr>
          <a:xfrm>
            <a:off x="5798900" y="685800"/>
            <a:ext cx="45719" cy="4942114"/>
          </a:xfrm>
          <a:prstGeom prst="rect">
            <a:avLst/>
          </a:prstGeom>
          <a:solidFill>
            <a:srgbClr val="FF7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411D74D-74EB-8C1A-19EE-B213DAD68D99}"/>
              </a:ext>
            </a:extLst>
          </p:cNvPr>
          <p:cNvSpPr/>
          <p:nvPr/>
        </p:nvSpPr>
        <p:spPr>
          <a:xfrm>
            <a:off x="1" y="0"/>
            <a:ext cx="5033912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95000"/>
                </a:schemeClr>
              </a:gs>
              <a:gs pos="98000">
                <a:schemeClr val="accent6">
                  <a:alpha val="95000"/>
                </a:schemeClr>
              </a:gs>
              <a:gs pos="59000">
                <a:srgbClr val="7030A0">
                  <a:alpha val="9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sz="2200" dirty="0"/>
          </a:p>
        </p:txBody>
      </p:sp>
      <p:sp>
        <p:nvSpPr>
          <p:cNvPr id="10" name="PRESENTATION…">
            <a:extLst>
              <a:ext uri="{FF2B5EF4-FFF2-40B4-BE49-F238E27FC236}">
                <a16:creationId xmlns:a16="http://schemas.microsoft.com/office/drawing/2014/main" id="{4779E35A-8F18-0E85-EE9E-BB9D3F251A76}"/>
              </a:ext>
            </a:extLst>
          </p:cNvPr>
          <p:cNvSpPr txBox="1"/>
          <p:nvPr/>
        </p:nvSpPr>
        <p:spPr>
          <a:xfrm>
            <a:off x="494122" y="463350"/>
            <a:ext cx="3076392" cy="6771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defPPr>
              <a:defRPr lang="es-US"/>
            </a:defPPr>
            <a:lvl1pPr algn="ctr">
              <a:spcBef>
                <a:spcPct val="0"/>
              </a:spcBef>
              <a:spcAft>
                <a:spcPts val="1333"/>
              </a:spcAft>
              <a:buNone/>
              <a:defRPr sz="3600" b="1">
                <a:solidFill>
                  <a:srgbClr val="217B85"/>
                </a:solidFill>
                <a:latin typeface="Montserrat"/>
                <a:ea typeface="+mj-ea"/>
                <a:cs typeface="Arial"/>
              </a:defRPr>
            </a:lvl1pPr>
          </a:lstStyle>
          <a:p>
            <a:pPr algn="l"/>
            <a:r>
              <a:rPr lang="es-ES" sz="2200" dirty="0">
                <a:solidFill>
                  <a:srgbClr val="FFFFFF"/>
                </a:solidFill>
                <a:sym typeface="Arial"/>
              </a:rPr>
              <a:t>Ejemplos función COUNT()</a:t>
            </a:r>
            <a:endParaRPr lang="es-ES" sz="2200" dirty="0">
              <a:solidFill>
                <a:srgbClr val="E1F7FF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2AC548D-5FA0-1DC9-B380-69F9F4D9106B}"/>
              </a:ext>
            </a:extLst>
          </p:cNvPr>
          <p:cNvSpPr txBox="1"/>
          <p:nvPr/>
        </p:nvSpPr>
        <p:spPr>
          <a:xfrm>
            <a:off x="6096000" y="860693"/>
            <a:ext cx="5429717" cy="4903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1400" i="1" dirty="0">
                <a:solidFill>
                  <a:srgbClr val="002060"/>
                </a:solidFill>
                <a:latin typeface="Montserrat" pitchFamily="2" charset="0"/>
              </a:rPr>
              <a:t>Determinar la cantidad de empleados.</a:t>
            </a:r>
          </a:p>
          <a:p>
            <a:pPr algn="just">
              <a:lnSpc>
                <a:spcPct val="150000"/>
              </a:lnSpc>
            </a:pPr>
            <a:endParaRPr lang="es-MX" sz="1400" i="1" dirty="0">
              <a:solidFill>
                <a:srgbClr val="002060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400" i="1" dirty="0">
                <a:solidFill>
                  <a:srgbClr val="002060"/>
                </a:solidFill>
                <a:latin typeface="Montserrat" pitchFamily="2" charset="0"/>
              </a:rPr>
              <a:t>Determinar la cantidad de empleados por departamento.</a:t>
            </a:r>
          </a:p>
          <a:p>
            <a:pPr algn="just">
              <a:lnSpc>
                <a:spcPct val="150000"/>
              </a:lnSpc>
            </a:pPr>
            <a:endParaRPr lang="es-MX" sz="1400" i="1" dirty="0">
              <a:solidFill>
                <a:srgbClr val="002060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400" i="1" dirty="0">
                <a:solidFill>
                  <a:srgbClr val="002060"/>
                </a:solidFill>
                <a:latin typeface="Montserrat" pitchFamily="2" charset="0"/>
              </a:rPr>
              <a:t>Determinar la cantidad de empleados por puesto de trabajo.</a:t>
            </a:r>
          </a:p>
          <a:p>
            <a:pPr algn="just">
              <a:lnSpc>
                <a:spcPct val="150000"/>
              </a:lnSpc>
            </a:pPr>
            <a:endParaRPr lang="es-MX" sz="1400" i="1" dirty="0">
              <a:solidFill>
                <a:srgbClr val="002060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400" i="1" dirty="0">
                <a:solidFill>
                  <a:srgbClr val="002060"/>
                </a:solidFill>
                <a:latin typeface="Montserrat" pitchFamily="2" charset="0"/>
              </a:rPr>
              <a:t>Determinar la cantidad de puestos de trabajo que tiene cada departamento</a:t>
            </a:r>
          </a:p>
          <a:p>
            <a:pPr algn="just">
              <a:lnSpc>
                <a:spcPct val="150000"/>
              </a:lnSpc>
            </a:pPr>
            <a:endParaRPr lang="es-MX" sz="1400" i="1" dirty="0">
              <a:solidFill>
                <a:srgbClr val="002060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400" b="1" i="1" dirty="0">
                <a:solidFill>
                  <a:srgbClr val="002060"/>
                </a:solidFill>
                <a:latin typeface="Montserrat" pitchFamily="2" charset="0"/>
              </a:rPr>
              <a:t>Determinar la cantidad de departamentos que tienen mas de un puesto de trabajo</a:t>
            </a:r>
          </a:p>
          <a:p>
            <a:pPr algn="just">
              <a:lnSpc>
                <a:spcPct val="150000"/>
              </a:lnSpc>
            </a:pPr>
            <a:endParaRPr lang="es-MX" sz="1400" i="1" dirty="0">
              <a:solidFill>
                <a:srgbClr val="002060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endParaRPr lang="es-MX" sz="1400" i="1" dirty="0">
              <a:solidFill>
                <a:srgbClr val="002060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endParaRPr lang="es-MX" sz="1400" i="1" dirty="0">
              <a:solidFill>
                <a:srgbClr val="002060"/>
              </a:solidFill>
              <a:latin typeface="Montserrat" pitchFamily="2" charset="0"/>
            </a:endParaRPr>
          </a:p>
        </p:txBody>
      </p:sp>
      <p:pic>
        <p:nvPicPr>
          <p:cNvPr id="9" name="Imagen 8" descr="Mujer con una caja de cartón&#10;&#10;Descripción generada automáticamente">
            <a:extLst>
              <a:ext uri="{FF2B5EF4-FFF2-40B4-BE49-F238E27FC236}">
                <a16:creationId xmlns:a16="http://schemas.microsoft.com/office/drawing/2014/main" id="{EACF48E3-53C8-66AC-752E-299ED04C65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748" y="1100058"/>
            <a:ext cx="5126871" cy="575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820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B75E1-E951-5DAD-9739-8659CDEB8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51E3C9E7-7330-CBEE-3FD2-232402BC8759}"/>
              </a:ext>
            </a:extLst>
          </p:cNvPr>
          <p:cNvSpPr/>
          <p:nvPr/>
        </p:nvSpPr>
        <p:spPr>
          <a:xfrm>
            <a:off x="5798900" y="685800"/>
            <a:ext cx="45719" cy="4942114"/>
          </a:xfrm>
          <a:prstGeom prst="rect">
            <a:avLst/>
          </a:prstGeom>
          <a:solidFill>
            <a:srgbClr val="FF7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BAC9E54-7DED-D616-0E7F-87452BCAFF27}"/>
              </a:ext>
            </a:extLst>
          </p:cNvPr>
          <p:cNvSpPr/>
          <p:nvPr/>
        </p:nvSpPr>
        <p:spPr>
          <a:xfrm>
            <a:off x="1" y="0"/>
            <a:ext cx="5033912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95000"/>
                </a:schemeClr>
              </a:gs>
              <a:gs pos="98000">
                <a:schemeClr val="accent6">
                  <a:alpha val="95000"/>
                </a:schemeClr>
              </a:gs>
              <a:gs pos="59000">
                <a:srgbClr val="7030A0">
                  <a:alpha val="9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sz="2200" dirty="0"/>
          </a:p>
        </p:txBody>
      </p:sp>
      <p:sp>
        <p:nvSpPr>
          <p:cNvPr id="10" name="PRESENTATION…">
            <a:extLst>
              <a:ext uri="{FF2B5EF4-FFF2-40B4-BE49-F238E27FC236}">
                <a16:creationId xmlns:a16="http://schemas.microsoft.com/office/drawing/2014/main" id="{E3B1EB08-7FE2-B0B3-1F7F-0B71CDA8040C}"/>
              </a:ext>
            </a:extLst>
          </p:cNvPr>
          <p:cNvSpPr txBox="1"/>
          <p:nvPr/>
        </p:nvSpPr>
        <p:spPr>
          <a:xfrm>
            <a:off x="494122" y="463350"/>
            <a:ext cx="3076392" cy="6771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defPPr>
              <a:defRPr lang="es-US"/>
            </a:defPPr>
            <a:lvl1pPr algn="ctr">
              <a:spcBef>
                <a:spcPct val="0"/>
              </a:spcBef>
              <a:spcAft>
                <a:spcPts val="1333"/>
              </a:spcAft>
              <a:buNone/>
              <a:defRPr sz="3600" b="1">
                <a:solidFill>
                  <a:srgbClr val="217B85"/>
                </a:solidFill>
                <a:latin typeface="Montserrat"/>
                <a:ea typeface="+mj-ea"/>
                <a:cs typeface="Arial"/>
              </a:defRPr>
            </a:lvl1pPr>
          </a:lstStyle>
          <a:p>
            <a:pPr algn="l"/>
            <a:r>
              <a:rPr lang="es-ES" sz="2200" dirty="0">
                <a:solidFill>
                  <a:srgbClr val="FFFFFF"/>
                </a:solidFill>
                <a:sym typeface="Arial"/>
              </a:rPr>
              <a:t>Ejemplos función MAX()</a:t>
            </a:r>
            <a:endParaRPr lang="es-ES" sz="2200" dirty="0">
              <a:solidFill>
                <a:srgbClr val="E1F7FF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A4C6911-E3BC-562F-8BB9-856BC4D21787}"/>
              </a:ext>
            </a:extLst>
          </p:cNvPr>
          <p:cNvSpPr txBox="1"/>
          <p:nvPr/>
        </p:nvSpPr>
        <p:spPr>
          <a:xfrm>
            <a:off x="6096000" y="860693"/>
            <a:ext cx="5429717" cy="4580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1400" i="1" dirty="0">
                <a:solidFill>
                  <a:srgbClr val="002060"/>
                </a:solidFill>
                <a:latin typeface="Montserrat" pitchFamily="2" charset="0"/>
              </a:rPr>
              <a:t>Determinar el empleado que tiene el salario más alto.</a:t>
            </a:r>
          </a:p>
          <a:p>
            <a:pPr algn="just">
              <a:lnSpc>
                <a:spcPct val="150000"/>
              </a:lnSpc>
            </a:pPr>
            <a:endParaRPr lang="es-MX" sz="1400" i="1" dirty="0">
              <a:solidFill>
                <a:srgbClr val="002060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400" i="1" dirty="0">
                <a:solidFill>
                  <a:srgbClr val="002060"/>
                </a:solidFill>
                <a:latin typeface="Montserrat" pitchFamily="2" charset="0"/>
              </a:rPr>
              <a:t>Determinar el empleado con mayor salario por departamento.</a:t>
            </a:r>
          </a:p>
          <a:p>
            <a:pPr algn="just">
              <a:lnSpc>
                <a:spcPct val="150000"/>
              </a:lnSpc>
            </a:pPr>
            <a:endParaRPr lang="es-MX" sz="1400" i="1" dirty="0">
              <a:solidFill>
                <a:srgbClr val="002060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400" i="1" dirty="0">
                <a:solidFill>
                  <a:srgbClr val="002060"/>
                </a:solidFill>
                <a:latin typeface="Montserrat" pitchFamily="2" charset="0"/>
              </a:rPr>
              <a:t>Determinar el empleado con mayor salario por puesto de trabajo.</a:t>
            </a:r>
          </a:p>
          <a:p>
            <a:pPr algn="just">
              <a:lnSpc>
                <a:spcPct val="150000"/>
              </a:lnSpc>
            </a:pPr>
            <a:endParaRPr lang="es-MX" sz="1400" i="1" dirty="0">
              <a:solidFill>
                <a:srgbClr val="002060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400" i="1" dirty="0">
                <a:solidFill>
                  <a:srgbClr val="002060"/>
                </a:solidFill>
                <a:latin typeface="Montserrat" pitchFamily="2" charset="0"/>
              </a:rPr>
              <a:t>DEPARTMENT_ID</a:t>
            </a:r>
          </a:p>
          <a:p>
            <a:pPr algn="just">
              <a:lnSpc>
                <a:spcPct val="150000"/>
              </a:lnSpc>
            </a:pPr>
            <a:r>
              <a:rPr lang="es-MX" sz="1400" b="1" i="1" dirty="0">
                <a:solidFill>
                  <a:srgbClr val="002060"/>
                </a:solidFill>
                <a:latin typeface="Montserrat" pitchFamily="2" charset="0"/>
              </a:rPr>
              <a:t>Determinar el empleado que tiene mayor salario del departamento con id 50</a:t>
            </a:r>
          </a:p>
          <a:p>
            <a:pPr algn="just">
              <a:lnSpc>
                <a:spcPct val="150000"/>
              </a:lnSpc>
            </a:pPr>
            <a:endParaRPr lang="es-MX" sz="1400" i="1" dirty="0">
              <a:solidFill>
                <a:srgbClr val="002060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endParaRPr lang="es-MX" sz="1400" i="1" dirty="0">
              <a:solidFill>
                <a:srgbClr val="002060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endParaRPr lang="es-MX" sz="1400" i="1" dirty="0">
              <a:solidFill>
                <a:srgbClr val="002060"/>
              </a:solidFill>
              <a:latin typeface="Montserrat" pitchFamily="2" charset="0"/>
            </a:endParaRPr>
          </a:p>
        </p:txBody>
      </p:sp>
      <p:pic>
        <p:nvPicPr>
          <p:cNvPr id="9" name="Imagen 8" descr="Mujer con una caja de cartón&#10;&#10;Descripción generada automáticamente">
            <a:extLst>
              <a:ext uri="{FF2B5EF4-FFF2-40B4-BE49-F238E27FC236}">
                <a16:creationId xmlns:a16="http://schemas.microsoft.com/office/drawing/2014/main" id="{653C419A-8C2C-D4A2-C8C6-4A403585DE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748" y="1100058"/>
            <a:ext cx="5126871" cy="575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714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255A0-DAA5-C050-EE78-6C37617A5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EC9A22E9-73DD-680A-B22B-A9D9A53E261F}"/>
              </a:ext>
            </a:extLst>
          </p:cNvPr>
          <p:cNvSpPr/>
          <p:nvPr/>
        </p:nvSpPr>
        <p:spPr>
          <a:xfrm>
            <a:off x="5798900" y="685800"/>
            <a:ext cx="45719" cy="4942114"/>
          </a:xfrm>
          <a:prstGeom prst="rect">
            <a:avLst/>
          </a:prstGeom>
          <a:solidFill>
            <a:srgbClr val="FF7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843CD3E-310B-B1E9-DB91-6EF55DF6FD46}"/>
              </a:ext>
            </a:extLst>
          </p:cNvPr>
          <p:cNvSpPr/>
          <p:nvPr/>
        </p:nvSpPr>
        <p:spPr>
          <a:xfrm>
            <a:off x="1" y="0"/>
            <a:ext cx="5033912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95000"/>
                </a:schemeClr>
              </a:gs>
              <a:gs pos="98000">
                <a:schemeClr val="accent6">
                  <a:alpha val="95000"/>
                </a:schemeClr>
              </a:gs>
              <a:gs pos="59000">
                <a:srgbClr val="7030A0">
                  <a:alpha val="9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sz="2200" dirty="0"/>
          </a:p>
        </p:txBody>
      </p:sp>
      <p:sp>
        <p:nvSpPr>
          <p:cNvPr id="10" name="PRESENTATION…">
            <a:extLst>
              <a:ext uri="{FF2B5EF4-FFF2-40B4-BE49-F238E27FC236}">
                <a16:creationId xmlns:a16="http://schemas.microsoft.com/office/drawing/2014/main" id="{6DF195CE-B5E9-F2EB-2B7A-6A33F4D0E2F4}"/>
              </a:ext>
            </a:extLst>
          </p:cNvPr>
          <p:cNvSpPr txBox="1"/>
          <p:nvPr/>
        </p:nvSpPr>
        <p:spPr>
          <a:xfrm>
            <a:off x="494122" y="463350"/>
            <a:ext cx="3076392" cy="6771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defPPr>
              <a:defRPr lang="es-US"/>
            </a:defPPr>
            <a:lvl1pPr algn="ctr">
              <a:spcBef>
                <a:spcPct val="0"/>
              </a:spcBef>
              <a:spcAft>
                <a:spcPts val="1333"/>
              </a:spcAft>
              <a:buNone/>
              <a:defRPr sz="3600" b="1">
                <a:solidFill>
                  <a:srgbClr val="217B85"/>
                </a:solidFill>
                <a:latin typeface="Montserrat"/>
                <a:ea typeface="+mj-ea"/>
                <a:cs typeface="Arial"/>
              </a:defRPr>
            </a:lvl1pPr>
          </a:lstStyle>
          <a:p>
            <a:pPr algn="l"/>
            <a:r>
              <a:rPr lang="es-ES" sz="2200" dirty="0">
                <a:solidFill>
                  <a:srgbClr val="FFFFFF"/>
                </a:solidFill>
                <a:sym typeface="Arial"/>
              </a:rPr>
              <a:t>Ejemplos función MIN()</a:t>
            </a:r>
            <a:endParaRPr lang="es-ES" sz="2200" dirty="0">
              <a:solidFill>
                <a:srgbClr val="E1F7FF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20A7D93-1605-F1F7-2A1E-0FED26E727D3}"/>
              </a:ext>
            </a:extLst>
          </p:cNvPr>
          <p:cNvSpPr txBox="1"/>
          <p:nvPr/>
        </p:nvSpPr>
        <p:spPr>
          <a:xfrm>
            <a:off x="6096000" y="860693"/>
            <a:ext cx="5429717" cy="4580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1400" i="1" dirty="0">
                <a:solidFill>
                  <a:srgbClr val="002060"/>
                </a:solidFill>
                <a:latin typeface="Montserrat" pitchFamily="2" charset="0"/>
              </a:rPr>
              <a:t>Determinar el empleado que tiene el salario menor.</a:t>
            </a:r>
          </a:p>
          <a:p>
            <a:pPr algn="just">
              <a:lnSpc>
                <a:spcPct val="150000"/>
              </a:lnSpc>
            </a:pPr>
            <a:endParaRPr lang="es-MX" sz="1400" i="1" dirty="0">
              <a:solidFill>
                <a:srgbClr val="002060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400" i="1" dirty="0">
                <a:solidFill>
                  <a:srgbClr val="002060"/>
                </a:solidFill>
                <a:latin typeface="Montserrat" pitchFamily="2" charset="0"/>
              </a:rPr>
              <a:t>Determinar el empleado con menor salario por departamento.</a:t>
            </a:r>
          </a:p>
          <a:p>
            <a:pPr algn="just">
              <a:lnSpc>
                <a:spcPct val="150000"/>
              </a:lnSpc>
            </a:pPr>
            <a:endParaRPr lang="es-MX" sz="1400" i="1" dirty="0">
              <a:solidFill>
                <a:srgbClr val="002060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400" i="1" dirty="0">
                <a:solidFill>
                  <a:srgbClr val="002060"/>
                </a:solidFill>
                <a:latin typeface="Montserrat" pitchFamily="2" charset="0"/>
              </a:rPr>
              <a:t>Determinar el empleado con </a:t>
            </a:r>
            <a:r>
              <a:rPr lang="es-MX" sz="1400" i="1" dirty="0" err="1">
                <a:solidFill>
                  <a:srgbClr val="002060"/>
                </a:solidFill>
                <a:latin typeface="Montserrat" pitchFamily="2" charset="0"/>
              </a:rPr>
              <a:t>manor</a:t>
            </a:r>
            <a:r>
              <a:rPr lang="es-MX" sz="1400" i="1" dirty="0">
                <a:solidFill>
                  <a:srgbClr val="002060"/>
                </a:solidFill>
                <a:latin typeface="Montserrat" pitchFamily="2" charset="0"/>
              </a:rPr>
              <a:t> salario por puesto de trabajo.</a:t>
            </a:r>
          </a:p>
          <a:p>
            <a:pPr algn="just">
              <a:lnSpc>
                <a:spcPct val="150000"/>
              </a:lnSpc>
            </a:pPr>
            <a:endParaRPr lang="es-MX" sz="1400" i="1" dirty="0">
              <a:solidFill>
                <a:srgbClr val="002060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400" i="1" dirty="0">
                <a:solidFill>
                  <a:srgbClr val="002060"/>
                </a:solidFill>
                <a:latin typeface="Montserrat" pitchFamily="2" charset="0"/>
              </a:rPr>
              <a:t>DEPARTMENT_ID</a:t>
            </a:r>
          </a:p>
          <a:p>
            <a:pPr algn="just">
              <a:lnSpc>
                <a:spcPct val="150000"/>
              </a:lnSpc>
            </a:pPr>
            <a:r>
              <a:rPr lang="es-MX" sz="1400" b="1" i="1" dirty="0">
                <a:solidFill>
                  <a:srgbClr val="002060"/>
                </a:solidFill>
                <a:latin typeface="Montserrat" pitchFamily="2" charset="0"/>
              </a:rPr>
              <a:t>Determinar el menor de los empleados del departamento con id 50</a:t>
            </a:r>
          </a:p>
          <a:p>
            <a:pPr algn="just">
              <a:lnSpc>
                <a:spcPct val="150000"/>
              </a:lnSpc>
            </a:pPr>
            <a:endParaRPr lang="es-MX" sz="1400" i="1" dirty="0">
              <a:solidFill>
                <a:srgbClr val="002060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endParaRPr lang="es-MX" sz="1400" i="1" dirty="0">
              <a:solidFill>
                <a:srgbClr val="002060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endParaRPr lang="es-MX" sz="1400" i="1" dirty="0">
              <a:solidFill>
                <a:srgbClr val="002060"/>
              </a:solidFill>
              <a:latin typeface="Montserrat" pitchFamily="2" charset="0"/>
            </a:endParaRPr>
          </a:p>
        </p:txBody>
      </p:sp>
      <p:pic>
        <p:nvPicPr>
          <p:cNvPr id="9" name="Imagen 8" descr="Mujer con una caja de cartón&#10;&#10;Descripción generada automáticamente">
            <a:extLst>
              <a:ext uri="{FF2B5EF4-FFF2-40B4-BE49-F238E27FC236}">
                <a16:creationId xmlns:a16="http://schemas.microsoft.com/office/drawing/2014/main" id="{F7176AE8-1A77-997F-8715-56A17347C2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748" y="1100058"/>
            <a:ext cx="5126871" cy="575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990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9DC41-3F00-41CE-E816-D27B70C46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E5280CF8-70F3-C581-94A8-4C45A763E37C}"/>
              </a:ext>
            </a:extLst>
          </p:cNvPr>
          <p:cNvSpPr/>
          <p:nvPr/>
        </p:nvSpPr>
        <p:spPr>
          <a:xfrm>
            <a:off x="5798900" y="685800"/>
            <a:ext cx="45719" cy="4942114"/>
          </a:xfrm>
          <a:prstGeom prst="rect">
            <a:avLst/>
          </a:prstGeom>
          <a:solidFill>
            <a:srgbClr val="FF7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A7BDD90-18E9-1D19-F37B-D0EFA9DF9529}"/>
              </a:ext>
            </a:extLst>
          </p:cNvPr>
          <p:cNvSpPr/>
          <p:nvPr/>
        </p:nvSpPr>
        <p:spPr>
          <a:xfrm>
            <a:off x="1" y="0"/>
            <a:ext cx="5033912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95000"/>
                </a:schemeClr>
              </a:gs>
              <a:gs pos="98000">
                <a:schemeClr val="accent6">
                  <a:alpha val="95000"/>
                </a:schemeClr>
              </a:gs>
              <a:gs pos="59000">
                <a:srgbClr val="7030A0">
                  <a:alpha val="9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sz="2200" dirty="0"/>
          </a:p>
        </p:txBody>
      </p:sp>
      <p:sp>
        <p:nvSpPr>
          <p:cNvPr id="10" name="PRESENTATION…">
            <a:extLst>
              <a:ext uri="{FF2B5EF4-FFF2-40B4-BE49-F238E27FC236}">
                <a16:creationId xmlns:a16="http://schemas.microsoft.com/office/drawing/2014/main" id="{FFD199BD-9048-4477-F2AD-05228265C1A2}"/>
              </a:ext>
            </a:extLst>
          </p:cNvPr>
          <p:cNvSpPr txBox="1"/>
          <p:nvPr/>
        </p:nvSpPr>
        <p:spPr>
          <a:xfrm>
            <a:off x="494122" y="463350"/>
            <a:ext cx="3076392" cy="6771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 anchor="t">
            <a:spAutoFit/>
          </a:bodyPr>
          <a:lstStyle>
            <a:defPPr>
              <a:defRPr lang="es-US"/>
            </a:defPPr>
            <a:lvl1pPr algn="ctr">
              <a:spcBef>
                <a:spcPct val="0"/>
              </a:spcBef>
              <a:spcAft>
                <a:spcPts val="1333"/>
              </a:spcAft>
              <a:buNone/>
              <a:defRPr sz="3600" b="1">
                <a:solidFill>
                  <a:srgbClr val="217B85"/>
                </a:solidFill>
                <a:latin typeface="Montserrat"/>
                <a:ea typeface="+mj-ea"/>
                <a:cs typeface="Arial"/>
              </a:defRPr>
            </a:lvl1pPr>
          </a:lstStyle>
          <a:p>
            <a:pPr algn="l"/>
            <a:r>
              <a:rPr lang="es-ES" sz="2200" dirty="0">
                <a:solidFill>
                  <a:srgbClr val="FFFFFF"/>
                </a:solidFill>
                <a:sym typeface="Arial"/>
              </a:rPr>
              <a:t>Ejemplos función AVG()</a:t>
            </a:r>
            <a:endParaRPr lang="es-ES" sz="2200" dirty="0">
              <a:solidFill>
                <a:srgbClr val="E1F7FF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ABA4D18-C67B-561C-4591-ED5522DB9265}"/>
              </a:ext>
            </a:extLst>
          </p:cNvPr>
          <p:cNvSpPr txBox="1"/>
          <p:nvPr/>
        </p:nvSpPr>
        <p:spPr>
          <a:xfrm>
            <a:off x="6096000" y="860693"/>
            <a:ext cx="542971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1400" i="1" dirty="0">
                <a:solidFill>
                  <a:srgbClr val="002060"/>
                </a:solidFill>
                <a:latin typeface="Montserrat" pitchFamily="2" charset="0"/>
              </a:rPr>
              <a:t>Determinar el precio promedio de los productos</a:t>
            </a:r>
          </a:p>
          <a:p>
            <a:pPr algn="just">
              <a:lnSpc>
                <a:spcPct val="150000"/>
              </a:lnSpc>
            </a:pPr>
            <a:endParaRPr lang="es-MX" sz="1400" i="1" dirty="0">
              <a:solidFill>
                <a:srgbClr val="002060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400" i="1" dirty="0">
                <a:solidFill>
                  <a:srgbClr val="002060"/>
                </a:solidFill>
                <a:latin typeface="Montserrat" pitchFamily="2" charset="0"/>
              </a:rPr>
              <a:t>Determinar el precio medio por unidad, </a:t>
            </a:r>
            <a:r>
              <a:rPr lang="es-MX" sz="1400" i="1" dirty="0" smtClean="0">
                <a:solidFill>
                  <a:srgbClr val="002060"/>
                </a:solidFill>
                <a:latin typeface="Montserrat" pitchFamily="2" charset="0"/>
              </a:rPr>
              <a:t>de </a:t>
            </a:r>
            <a:r>
              <a:rPr lang="es-MX" sz="1400" i="1" dirty="0">
                <a:solidFill>
                  <a:srgbClr val="002060"/>
                </a:solidFill>
                <a:latin typeface="Montserrat" pitchFamily="2" charset="0"/>
              </a:rPr>
              <a:t>productos</a:t>
            </a:r>
          </a:p>
          <a:p>
            <a:pPr algn="just">
              <a:lnSpc>
                <a:spcPct val="150000"/>
              </a:lnSpc>
            </a:pPr>
            <a:r>
              <a:rPr lang="es-MX" sz="1400" i="1" dirty="0">
                <a:solidFill>
                  <a:srgbClr val="002060"/>
                </a:solidFill>
                <a:latin typeface="Montserrat" pitchFamily="2" charset="0"/>
              </a:rPr>
              <a:t>el producto más caro y la ganancia total de cada </a:t>
            </a:r>
            <a:r>
              <a:rPr lang="es-MX" sz="1400" i="1" dirty="0" smtClean="0">
                <a:solidFill>
                  <a:srgbClr val="002060"/>
                </a:solidFill>
                <a:latin typeface="Montserrat" pitchFamily="2" charset="0"/>
              </a:rPr>
              <a:t>línea.</a:t>
            </a:r>
            <a:endParaRPr lang="es-MX" sz="1400" i="1" dirty="0">
              <a:solidFill>
                <a:srgbClr val="002060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endParaRPr lang="es-MX" sz="1400" i="1" dirty="0">
              <a:solidFill>
                <a:srgbClr val="002060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endParaRPr lang="es-MX" sz="1400" i="1" dirty="0">
              <a:solidFill>
                <a:srgbClr val="002060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endParaRPr lang="es-MX" sz="1400" i="1" dirty="0">
              <a:solidFill>
                <a:srgbClr val="002060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endParaRPr lang="es-MX" sz="1400" i="1" dirty="0">
              <a:solidFill>
                <a:srgbClr val="002060"/>
              </a:solidFill>
              <a:latin typeface="Montserrat" pitchFamily="2" charset="0"/>
            </a:endParaRPr>
          </a:p>
        </p:txBody>
      </p:sp>
      <p:pic>
        <p:nvPicPr>
          <p:cNvPr id="9" name="Imagen 8" descr="Mujer con una caja de cartón&#10;&#10;Descripción generada automáticamente">
            <a:extLst>
              <a:ext uri="{FF2B5EF4-FFF2-40B4-BE49-F238E27FC236}">
                <a16:creationId xmlns:a16="http://schemas.microsoft.com/office/drawing/2014/main" id="{403C9FA2-5060-119E-0723-AB7790CAB0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748" y="1100058"/>
            <a:ext cx="5126871" cy="575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870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8695620097314188CBF043CF6DE45F" ma:contentTypeVersion="12" ma:contentTypeDescription="Create a new document." ma:contentTypeScope="" ma:versionID="dc4da0b47aa615b7c4e08a8c131052e7">
  <xsd:schema xmlns:xsd="http://www.w3.org/2001/XMLSchema" xmlns:xs="http://www.w3.org/2001/XMLSchema" xmlns:p="http://schemas.microsoft.com/office/2006/metadata/properties" xmlns:ns2="80c8af4b-680e-425b-8c8b-bb5afaab0c89" xmlns:ns3="61f9a3b6-bf92-442f-aa67-edfa6c12a150" targetNamespace="http://schemas.microsoft.com/office/2006/metadata/properties" ma:root="true" ma:fieldsID="e5792215cc323e59638f7df69eec56be" ns2:_="" ns3:_="">
    <xsd:import namespace="80c8af4b-680e-425b-8c8b-bb5afaab0c89"/>
    <xsd:import namespace="61f9a3b6-bf92-442f-aa67-edfa6c12a1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c8af4b-680e-425b-8c8b-bb5afaab0c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52f0f075-d9ba-42f1-8fe6-73475dbdc57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f9a3b6-bf92-442f-aa67-edfa6c12a150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e0f5438c-040d-47ff-bf2b-1968a1d4fa64}" ma:internalName="TaxCatchAll" ma:showField="CatchAllData" ma:web="61f9a3b6-bf92-442f-aa67-edfa6c12a15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1f9a3b6-bf92-442f-aa67-edfa6c12a150" xsi:nil="true"/>
    <lcf76f155ced4ddcb4097134ff3c332f xmlns="80c8af4b-680e-425b-8c8b-bb5afaab0c89">
      <Terms xmlns="http://schemas.microsoft.com/office/infopath/2007/PartnerControls"/>
    </lcf76f155ced4ddcb4097134ff3c332f>
    <SharedWithUsers xmlns="61f9a3b6-bf92-442f-aa67-edfa6c12a150">
      <UserInfo>
        <DisplayName>Diego Rafael Rivas Hercules</DisplayName>
        <AccountId>13</AccountId>
        <AccountType/>
      </UserInfo>
      <UserInfo>
        <DisplayName>Alejandro Jimenez Archila</DisplayName>
        <AccountId>30</AccountId>
        <AccountType/>
      </UserInfo>
      <UserInfo>
        <DisplayName>Tania Elizabeth Cornejo Rauda</DisplayName>
        <AccountId>9</AccountId>
        <AccountType/>
      </UserInfo>
      <UserInfo>
        <DisplayName>Yohana Giselida Suarez Castill</DisplayName>
        <AccountId>21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E0EA8F59-E690-4122-8E41-3856DC9984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c8af4b-680e-425b-8c8b-bb5afaab0c89"/>
    <ds:schemaRef ds:uri="61f9a3b6-bf92-442f-aa67-edfa6c12a15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DF8D3D9-B522-4983-A0AE-E2DBBDB4598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C69D19-532D-44A7-9552-B5EE25D4DE2B}">
  <ds:schemaRefs>
    <ds:schemaRef ds:uri="http://schemas.openxmlformats.org/package/2006/metadata/core-properties"/>
    <ds:schemaRef ds:uri="http://purl.org/dc/terms/"/>
    <ds:schemaRef ds:uri="http://purl.org/dc/elements/1.1/"/>
    <ds:schemaRef ds:uri="80c8af4b-680e-425b-8c8b-bb5afaab0c89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dcmitype/"/>
    <ds:schemaRef ds:uri="61f9a3b6-bf92-442f-aa67-edfa6c12a15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1518</TotalTime>
  <Words>821</Words>
  <Application>Microsoft Office PowerPoint</Application>
  <PresentationFormat>Panorámica</PresentationFormat>
  <Paragraphs>107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Montserrat</vt:lpstr>
      <vt:lpstr>Tema de Office</vt:lpstr>
      <vt:lpstr>DESARROLLO Web II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/>
  <cp:lastModifiedBy>User</cp:lastModifiedBy>
  <cp:revision>56</cp:revision>
  <dcterms:created xsi:type="dcterms:W3CDTF">2022-08-22T19:37:09Z</dcterms:created>
  <dcterms:modified xsi:type="dcterms:W3CDTF">2024-11-14T02:30:07Z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0x010100648695620097314188CBF043CF6DE45F</vt:lpwstr>
  </property>
  <property fmtid="{D5CDD505-2E9C-101B-9397-08002B2CF9AE}" pid="3" name="MediaServiceImageTags">
    <vt:lpwstr/>
  </property>
</Properties>
</file>